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30279975" cy="42808525"/>
  <p:notesSz cx="6858000" cy="9945688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618687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237372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856058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474744" algn="ctr" rtl="0" fontAlgn="base" latinLnBrk="1">
      <a:spcBef>
        <a:spcPct val="0"/>
      </a:spcBef>
      <a:spcAft>
        <a:spcPct val="0"/>
      </a:spcAft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3093430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3712116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4330802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4949487" algn="l" defTabSz="1237372" rtl="0" eaLnBrk="1" latinLnBrk="1" hangingPunct="1">
      <a:defRPr kumimoji="1" sz="24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4">
          <p15:clr>
            <a:srgbClr val="A4A3A4"/>
          </p15:clr>
        </p15:guide>
        <p15:guide id="2" orient="horz" pos="3447">
          <p15:clr>
            <a:srgbClr val="A4A3A4"/>
          </p15:clr>
        </p15:guide>
        <p15:guide id="3" pos="95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5637" autoAdjust="0"/>
    <p:restoredTop sz="95256" autoAdjust="0"/>
  </p:normalViewPr>
  <p:slideViewPr>
    <p:cSldViewPr>
      <p:cViewPr>
        <p:scale>
          <a:sx n="100" d="100"/>
          <a:sy n="100" d="100"/>
        </p:scale>
        <p:origin x="72" y="-9438"/>
      </p:cViewPr>
      <p:guideLst>
        <p:guide orient="horz" pos="13484"/>
        <p:guide orient="horz" pos="3447"/>
        <p:guide pos="95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-2022" y="-126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6678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446678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2325A6B7-B744-4D48-9FD4-4E342C079F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2524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2004" cy="498288"/>
          </a:xfrm>
          <a:prstGeom prst="rect">
            <a:avLst/>
          </a:prstGeom>
        </p:spPr>
        <p:txBody>
          <a:bodyPr vert="horz" lIns="88642" tIns="44321" rIns="88642" bIns="443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463" y="0"/>
            <a:ext cx="2972004" cy="498288"/>
          </a:xfrm>
          <a:prstGeom prst="rect">
            <a:avLst/>
          </a:prstGeom>
        </p:spPr>
        <p:txBody>
          <a:bodyPr vert="horz" lIns="88642" tIns="44321" rIns="88642" bIns="44321" rtlCol="0"/>
          <a:lstStyle>
            <a:lvl1pPr algn="r">
              <a:defRPr sz="1200"/>
            </a:lvl1pPr>
          </a:lstStyle>
          <a:p>
            <a:fld id="{9258096F-3C55-4D0D-9AB6-FA1E838B2D9D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1243013"/>
            <a:ext cx="23749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642" tIns="44321" rIns="88642" bIns="443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494" y="4786951"/>
            <a:ext cx="5487013" cy="3915333"/>
          </a:xfrm>
          <a:prstGeom prst="rect">
            <a:avLst/>
          </a:prstGeom>
        </p:spPr>
        <p:txBody>
          <a:bodyPr vert="horz" lIns="88642" tIns="44321" rIns="88642" bIns="4432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7401"/>
            <a:ext cx="2972004" cy="498288"/>
          </a:xfrm>
          <a:prstGeom prst="rect">
            <a:avLst/>
          </a:prstGeom>
        </p:spPr>
        <p:txBody>
          <a:bodyPr vert="horz" lIns="88642" tIns="44321" rIns="88642" bIns="443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463" y="9447401"/>
            <a:ext cx="2972004" cy="498288"/>
          </a:xfrm>
          <a:prstGeom prst="rect">
            <a:avLst/>
          </a:prstGeom>
        </p:spPr>
        <p:txBody>
          <a:bodyPr vert="horz" lIns="88642" tIns="44321" rIns="88642" bIns="44321" rtlCol="0" anchor="b"/>
          <a:lstStyle>
            <a:lvl1pPr algn="r">
              <a:defRPr sz="1200"/>
            </a:lvl1pPr>
          </a:lstStyle>
          <a:p>
            <a:fld id="{488CD126-A8FF-4C1F-8F1A-B47B00DBD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943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동기 및 배경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(Problem Statement)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해결 방안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(Solution) 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시스템구조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기술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알고리즘 등</a:t>
            </a:r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기능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(Key Function)</a:t>
            </a:r>
            <a:r>
              <a:rPr lang="ko-KR" altLang="en-US" dirty="0"/>
              <a:t> </a:t>
            </a:r>
            <a:br>
              <a:rPr lang="ko-KR" altLang="en-US" dirty="0"/>
            </a:b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정확한 유튜브 링크가 들어왔을 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링크의 영상과 썸네일을 다운받습니다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썸네일이 올바르다고 판단되면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쪽으로 썸네일과 영상의 위치를 넘겨줍니다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분석이 끝난 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일치율이 제일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높은것을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사용자에게 제공합니다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CD126-A8FF-4C1F-8F1A-B47B00DBD9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80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784997" y="7005935"/>
            <a:ext cx="22709981" cy="14903709"/>
          </a:xfrm>
        </p:spPr>
        <p:txBody>
          <a:bodyPr anchor="b"/>
          <a:lstStyle>
            <a:lvl1pPr algn="ctr">
              <a:defRPr sz="149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784997" y="22484388"/>
            <a:ext cx="22709981" cy="10335481"/>
          </a:xfrm>
        </p:spPr>
        <p:txBody>
          <a:bodyPr/>
          <a:lstStyle>
            <a:lvl1pPr marL="0" indent="0" algn="ctr">
              <a:buNone/>
              <a:defRPr sz="5961"/>
            </a:lvl1pPr>
            <a:lvl2pPr marL="1135502" indent="0" algn="ctr">
              <a:buNone/>
              <a:defRPr sz="4967"/>
            </a:lvl2pPr>
            <a:lvl3pPr marL="2271004" indent="0" algn="ctr">
              <a:buNone/>
              <a:defRPr sz="4470"/>
            </a:lvl3pPr>
            <a:lvl4pPr marL="3406506" indent="0" algn="ctr">
              <a:buNone/>
              <a:defRPr sz="3974"/>
            </a:lvl4pPr>
            <a:lvl5pPr marL="4542008" indent="0" algn="ctr">
              <a:buNone/>
              <a:defRPr sz="3974"/>
            </a:lvl5pPr>
            <a:lvl6pPr marL="5677510" indent="0" algn="ctr">
              <a:buNone/>
              <a:defRPr sz="3974"/>
            </a:lvl6pPr>
            <a:lvl7pPr marL="6813012" indent="0" algn="ctr">
              <a:buNone/>
              <a:defRPr sz="3974"/>
            </a:lvl7pPr>
            <a:lvl8pPr marL="7948513" indent="0" algn="ctr">
              <a:buNone/>
              <a:defRPr sz="3974"/>
            </a:lvl8pPr>
            <a:lvl9pPr marL="9084015" indent="0" algn="ctr">
              <a:buNone/>
              <a:defRPr sz="3974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80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1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65978" y="10672409"/>
            <a:ext cx="26116478" cy="17807154"/>
          </a:xfrm>
        </p:spPr>
        <p:txBody>
          <a:bodyPr anchor="b"/>
          <a:lstStyle>
            <a:lvl1pPr>
              <a:defRPr sz="149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065978" y="28648026"/>
            <a:ext cx="26116478" cy="9364362"/>
          </a:xfrm>
        </p:spPr>
        <p:txBody>
          <a:bodyPr/>
          <a:lstStyle>
            <a:lvl1pPr marL="0" indent="0">
              <a:buNone/>
              <a:defRPr sz="5961">
                <a:solidFill>
                  <a:schemeClr val="tx1">
                    <a:tint val="75000"/>
                  </a:schemeClr>
                </a:solidFill>
              </a:defRPr>
            </a:lvl1pPr>
            <a:lvl2pPr marL="1135502" indent="0">
              <a:buNone/>
              <a:defRPr sz="4967">
                <a:solidFill>
                  <a:schemeClr val="tx1">
                    <a:tint val="75000"/>
                  </a:schemeClr>
                </a:solidFill>
              </a:defRPr>
            </a:lvl2pPr>
            <a:lvl3pPr marL="2271004" indent="0">
              <a:buNone/>
              <a:defRPr sz="4470">
                <a:solidFill>
                  <a:schemeClr val="tx1">
                    <a:tint val="75000"/>
                  </a:schemeClr>
                </a:solidFill>
              </a:defRPr>
            </a:lvl3pPr>
            <a:lvl4pPr marL="3406506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4pPr>
            <a:lvl5pPr marL="4542008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5pPr>
            <a:lvl6pPr marL="5677510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6pPr>
            <a:lvl7pPr marL="6813012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7pPr>
            <a:lvl8pPr marL="7948513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8pPr>
            <a:lvl9pPr marL="9084015" indent="0">
              <a:buNone/>
              <a:defRPr sz="39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8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081748" y="11395788"/>
            <a:ext cx="12868989" cy="2716161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329238" y="11395788"/>
            <a:ext cx="12868989" cy="2716161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46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5692" y="2279161"/>
            <a:ext cx="26116478" cy="827433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085693" y="10494037"/>
            <a:ext cx="12809848" cy="5142966"/>
          </a:xfrm>
        </p:spPr>
        <p:txBody>
          <a:bodyPr anchor="b"/>
          <a:lstStyle>
            <a:lvl1pPr marL="0" indent="0">
              <a:buNone/>
              <a:defRPr sz="5961" b="1"/>
            </a:lvl1pPr>
            <a:lvl2pPr marL="1135502" indent="0">
              <a:buNone/>
              <a:defRPr sz="4967" b="1"/>
            </a:lvl2pPr>
            <a:lvl3pPr marL="2271004" indent="0">
              <a:buNone/>
              <a:defRPr sz="4470" b="1"/>
            </a:lvl3pPr>
            <a:lvl4pPr marL="3406506" indent="0">
              <a:buNone/>
              <a:defRPr sz="3974" b="1"/>
            </a:lvl4pPr>
            <a:lvl5pPr marL="4542008" indent="0">
              <a:buNone/>
              <a:defRPr sz="3974" b="1"/>
            </a:lvl5pPr>
            <a:lvl6pPr marL="5677510" indent="0">
              <a:buNone/>
              <a:defRPr sz="3974" b="1"/>
            </a:lvl6pPr>
            <a:lvl7pPr marL="6813012" indent="0">
              <a:buNone/>
              <a:defRPr sz="3974" b="1"/>
            </a:lvl7pPr>
            <a:lvl8pPr marL="7948513" indent="0">
              <a:buNone/>
              <a:defRPr sz="3974" b="1"/>
            </a:lvl8pPr>
            <a:lvl9pPr marL="9084015" indent="0">
              <a:buNone/>
              <a:defRPr sz="3974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085693" y="15637003"/>
            <a:ext cx="12809848" cy="2299967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29238" y="10494037"/>
            <a:ext cx="12872933" cy="5142966"/>
          </a:xfrm>
        </p:spPr>
        <p:txBody>
          <a:bodyPr anchor="b"/>
          <a:lstStyle>
            <a:lvl1pPr marL="0" indent="0">
              <a:buNone/>
              <a:defRPr sz="5961" b="1"/>
            </a:lvl1pPr>
            <a:lvl2pPr marL="1135502" indent="0">
              <a:buNone/>
              <a:defRPr sz="4967" b="1"/>
            </a:lvl2pPr>
            <a:lvl3pPr marL="2271004" indent="0">
              <a:buNone/>
              <a:defRPr sz="4470" b="1"/>
            </a:lvl3pPr>
            <a:lvl4pPr marL="3406506" indent="0">
              <a:buNone/>
              <a:defRPr sz="3974" b="1"/>
            </a:lvl4pPr>
            <a:lvl5pPr marL="4542008" indent="0">
              <a:buNone/>
              <a:defRPr sz="3974" b="1"/>
            </a:lvl5pPr>
            <a:lvl6pPr marL="5677510" indent="0">
              <a:buNone/>
              <a:defRPr sz="3974" b="1"/>
            </a:lvl6pPr>
            <a:lvl7pPr marL="6813012" indent="0">
              <a:buNone/>
              <a:defRPr sz="3974" b="1"/>
            </a:lvl7pPr>
            <a:lvl8pPr marL="7948513" indent="0">
              <a:buNone/>
              <a:defRPr sz="3974" b="1"/>
            </a:lvl8pPr>
            <a:lvl9pPr marL="9084015" indent="0">
              <a:buNone/>
              <a:defRPr sz="3974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29238" y="15637003"/>
            <a:ext cx="12872933" cy="2299967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86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32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43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5694" y="2853902"/>
            <a:ext cx="9766079" cy="9988656"/>
          </a:xfrm>
        </p:spPr>
        <p:txBody>
          <a:bodyPr anchor="b"/>
          <a:lstStyle>
            <a:lvl1pPr>
              <a:defRPr sz="7948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872933" y="6163638"/>
            <a:ext cx="15329237" cy="30421799"/>
          </a:xfrm>
        </p:spPr>
        <p:txBody>
          <a:bodyPr/>
          <a:lstStyle>
            <a:lvl1pPr>
              <a:defRPr sz="7948"/>
            </a:lvl1pPr>
            <a:lvl2pPr>
              <a:defRPr sz="6954"/>
            </a:lvl2pPr>
            <a:lvl3pPr>
              <a:defRPr sz="5961"/>
            </a:lvl3pPr>
            <a:lvl4pPr>
              <a:defRPr sz="4967"/>
            </a:lvl4pPr>
            <a:lvl5pPr>
              <a:defRPr sz="4967"/>
            </a:lvl5pPr>
            <a:lvl6pPr>
              <a:defRPr sz="4967"/>
            </a:lvl6pPr>
            <a:lvl7pPr>
              <a:defRPr sz="4967"/>
            </a:lvl7pPr>
            <a:lvl8pPr>
              <a:defRPr sz="4967"/>
            </a:lvl8pPr>
            <a:lvl9pPr>
              <a:defRPr sz="496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85694" y="12842558"/>
            <a:ext cx="9766079" cy="23792426"/>
          </a:xfrm>
        </p:spPr>
        <p:txBody>
          <a:bodyPr/>
          <a:lstStyle>
            <a:lvl1pPr marL="0" indent="0">
              <a:buNone/>
              <a:defRPr sz="3974"/>
            </a:lvl1pPr>
            <a:lvl2pPr marL="1135502" indent="0">
              <a:buNone/>
              <a:defRPr sz="3477"/>
            </a:lvl2pPr>
            <a:lvl3pPr marL="2271004" indent="0">
              <a:buNone/>
              <a:defRPr sz="2980"/>
            </a:lvl3pPr>
            <a:lvl4pPr marL="3406506" indent="0">
              <a:buNone/>
              <a:defRPr sz="2484"/>
            </a:lvl4pPr>
            <a:lvl5pPr marL="4542008" indent="0">
              <a:buNone/>
              <a:defRPr sz="2484"/>
            </a:lvl5pPr>
            <a:lvl6pPr marL="5677510" indent="0">
              <a:buNone/>
              <a:defRPr sz="2484"/>
            </a:lvl6pPr>
            <a:lvl7pPr marL="6813012" indent="0">
              <a:buNone/>
              <a:defRPr sz="2484"/>
            </a:lvl7pPr>
            <a:lvl8pPr marL="7948513" indent="0">
              <a:buNone/>
              <a:defRPr sz="2484"/>
            </a:lvl8pPr>
            <a:lvl9pPr marL="9084015" indent="0">
              <a:buNone/>
              <a:defRPr sz="248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10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5694" y="2853902"/>
            <a:ext cx="9766079" cy="9988656"/>
          </a:xfrm>
        </p:spPr>
        <p:txBody>
          <a:bodyPr anchor="b"/>
          <a:lstStyle>
            <a:lvl1pPr>
              <a:defRPr sz="7948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2872933" y="6163638"/>
            <a:ext cx="15329237" cy="30421799"/>
          </a:xfrm>
        </p:spPr>
        <p:txBody>
          <a:bodyPr/>
          <a:lstStyle>
            <a:lvl1pPr marL="0" indent="0">
              <a:buNone/>
              <a:defRPr sz="7948"/>
            </a:lvl1pPr>
            <a:lvl2pPr marL="1135502" indent="0">
              <a:buNone/>
              <a:defRPr sz="6954"/>
            </a:lvl2pPr>
            <a:lvl3pPr marL="2271004" indent="0">
              <a:buNone/>
              <a:defRPr sz="5961"/>
            </a:lvl3pPr>
            <a:lvl4pPr marL="3406506" indent="0">
              <a:buNone/>
              <a:defRPr sz="4967"/>
            </a:lvl4pPr>
            <a:lvl5pPr marL="4542008" indent="0">
              <a:buNone/>
              <a:defRPr sz="4967"/>
            </a:lvl5pPr>
            <a:lvl6pPr marL="5677510" indent="0">
              <a:buNone/>
              <a:defRPr sz="4967"/>
            </a:lvl6pPr>
            <a:lvl7pPr marL="6813012" indent="0">
              <a:buNone/>
              <a:defRPr sz="4967"/>
            </a:lvl7pPr>
            <a:lvl8pPr marL="7948513" indent="0">
              <a:buNone/>
              <a:defRPr sz="4967"/>
            </a:lvl8pPr>
            <a:lvl9pPr marL="9084015" indent="0">
              <a:buNone/>
              <a:defRPr sz="4967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85694" y="12842558"/>
            <a:ext cx="9766079" cy="23792426"/>
          </a:xfrm>
        </p:spPr>
        <p:txBody>
          <a:bodyPr/>
          <a:lstStyle>
            <a:lvl1pPr marL="0" indent="0">
              <a:buNone/>
              <a:defRPr sz="3974"/>
            </a:lvl1pPr>
            <a:lvl2pPr marL="1135502" indent="0">
              <a:buNone/>
              <a:defRPr sz="3477"/>
            </a:lvl2pPr>
            <a:lvl3pPr marL="2271004" indent="0">
              <a:buNone/>
              <a:defRPr sz="2980"/>
            </a:lvl3pPr>
            <a:lvl4pPr marL="3406506" indent="0">
              <a:buNone/>
              <a:defRPr sz="2484"/>
            </a:lvl4pPr>
            <a:lvl5pPr marL="4542008" indent="0">
              <a:buNone/>
              <a:defRPr sz="2484"/>
            </a:lvl5pPr>
            <a:lvl6pPr marL="5677510" indent="0">
              <a:buNone/>
              <a:defRPr sz="2484"/>
            </a:lvl6pPr>
            <a:lvl7pPr marL="6813012" indent="0">
              <a:buNone/>
              <a:defRPr sz="2484"/>
            </a:lvl7pPr>
            <a:lvl8pPr marL="7948513" indent="0">
              <a:buNone/>
              <a:defRPr sz="2484"/>
            </a:lvl8pPr>
            <a:lvl9pPr marL="9084015" indent="0">
              <a:buNone/>
              <a:defRPr sz="248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3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6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1669107" y="2279158"/>
            <a:ext cx="6529120" cy="3627824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081748" y="2279158"/>
            <a:ext cx="19208859" cy="3627824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15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081749" y="2279161"/>
            <a:ext cx="26116478" cy="8274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081749" y="11395788"/>
            <a:ext cx="26116478" cy="27161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081748" y="39677164"/>
            <a:ext cx="6812994" cy="2279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E9975-082C-48ED-A47B-4143E71EDCF2}" type="datetimeFigureOut">
              <a:rPr lang="ko-KR" altLang="en-US" smtClean="0"/>
              <a:t>2020-11-01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030242" y="39677164"/>
            <a:ext cx="10219492" cy="2279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385233" y="39677164"/>
            <a:ext cx="6812994" cy="22791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4FEBB-5BE6-484B-9592-9912890D867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6" descr="logo_15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1448360" y="41411916"/>
            <a:ext cx="7841453" cy="912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1" y="40805677"/>
            <a:ext cx="10912184" cy="183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17562" tIns="208779" rIns="417562" bIns="208779">
            <a:spAutoFit/>
          </a:bodyPr>
          <a:lstStyle/>
          <a:p>
            <a:pPr defTabSz="12403794">
              <a:defRPr/>
            </a:pPr>
            <a:r>
              <a:rPr lang="ko-KR" altLang="en-US" sz="5500" b="1" dirty="0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</a:rPr>
              <a:t>전파 탐지 특화 연구 센터 </a:t>
            </a:r>
            <a:r>
              <a:rPr lang="en-US" altLang="ko-KR" sz="3700" b="1" dirty="0" err="1">
                <a:solidFill>
                  <a:schemeClr val="bg1"/>
                </a:solidFill>
                <a:latin typeface="HY엽서M" pitchFamily="18" charset="-127"/>
                <a:ea typeface="HY엽서M" pitchFamily="18" charset="-127"/>
              </a:rPr>
              <a:t>Radiowave</a:t>
            </a:r>
            <a:r>
              <a:rPr lang="en-US" altLang="ko-KR" sz="3700" b="1" dirty="0">
                <a:solidFill>
                  <a:schemeClr val="bg1"/>
                </a:solidFill>
                <a:latin typeface="HY엽서M" pitchFamily="18" charset="-127"/>
                <a:ea typeface="HY엽서M" pitchFamily="18" charset="-127"/>
              </a:rPr>
              <a:t> Detection Research Center </a:t>
            </a:r>
            <a:endParaRPr lang="en-US" altLang="ko-KR" dirty="0"/>
          </a:p>
        </p:txBody>
      </p:sp>
      <p:pic>
        <p:nvPicPr>
          <p:cNvPr id="9" name="Picture 2" descr="C:\Documents and Settings\고성길\바탕 화면\M&amp;S연구센터\개소식\개소식 준비작업\m&amp;s final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2904" y="40845661"/>
            <a:ext cx="7397650" cy="18875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38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2271004" rtl="0" eaLnBrk="1" latinLnBrk="1" hangingPunct="1">
        <a:lnSpc>
          <a:spcPct val="90000"/>
        </a:lnSpc>
        <a:spcBef>
          <a:spcPct val="0"/>
        </a:spcBef>
        <a:buNone/>
        <a:defRPr sz="10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751" indent="-567751" algn="l" defTabSz="2271004" rtl="0" eaLnBrk="1" latinLnBrk="1" hangingPunct="1">
        <a:lnSpc>
          <a:spcPct val="90000"/>
        </a:lnSpc>
        <a:spcBef>
          <a:spcPts val="2484"/>
        </a:spcBef>
        <a:buFont typeface="Arial" panose="020B0604020202020204" pitchFamily="34" charset="0"/>
        <a:buChar char="•"/>
        <a:defRPr sz="6954" kern="1200">
          <a:solidFill>
            <a:schemeClr val="tx1"/>
          </a:solidFill>
          <a:latin typeface="+mn-lt"/>
          <a:ea typeface="+mn-ea"/>
          <a:cs typeface="+mn-cs"/>
        </a:defRPr>
      </a:lvl1pPr>
      <a:lvl2pPr marL="1703253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2pPr>
      <a:lvl3pPr marL="2838755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967" kern="1200">
          <a:solidFill>
            <a:schemeClr val="tx1"/>
          </a:solidFill>
          <a:latin typeface="+mn-lt"/>
          <a:ea typeface="+mn-ea"/>
          <a:cs typeface="+mn-cs"/>
        </a:defRPr>
      </a:lvl3pPr>
      <a:lvl4pPr marL="3974257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5109759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6245261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7380762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8516264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651766" indent="-567751" algn="l" defTabSz="2271004" rtl="0" eaLnBrk="1" latinLnBrk="1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135502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2pPr>
      <a:lvl3pPr marL="2271004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3pPr>
      <a:lvl4pPr marL="3406506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4542008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5677510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6813012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7948513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084015" algn="l" defTabSz="2271004" rtl="0" eaLnBrk="1" latinLnBrk="1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7907453-9C7B-4A7C-9805-840AE41ACED2}"/>
              </a:ext>
            </a:extLst>
          </p:cNvPr>
          <p:cNvSpPr/>
          <p:nvPr/>
        </p:nvSpPr>
        <p:spPr>
          <a:xfrm>
            <a:off x="1602511" y="5685994"/>
            <a:ext cx="26735029" cy="36096532"/>
          </a:xfrm>
          <a:prstGeom prst="rect">
            <a:avLst/>
          </a:prstGeom>
          <a:solidFill>
            <a:srgbClr val="F3C6B3"/>
          </a:solidFill>
          <a:ln w="63500">
            <a:solidFill>
              <a:schemeClr val="bg1"/>
            </a:solidFill>
          </a:ln>
          <a:effectLst>
            <a:outerShdw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74" name="Text Box 126"/>
          <p:cNvSpPr txBox="1">
            <a:spLocks noChangeArrowheads="1"/>
          </p:cNvSpPr>
          <p:nvPr/>
        </p:nvSpPr>
        <p:spPr bwMode="auto">
          <a:xfrm>
            <a:off x="0" y="1333835"/>
            <a:ext cx="30279975" cy="140374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lIns="140603" tIns="70301" rIns="140603" bIns="70301">
            <a:spAutoFit/>
          </a:bodyPr>
          <a:lstStyle/>
          <a:p>
            <a:pPr defTabSz="12403794">
              <a:defRPr/>
            </a:pPr>
            <a:r>
              <a:rPr lang="en-US" altLang="ko-KR" sz="8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Thumbnail Finder</a:t>
            </a:r>
            <a:endParaRPr lang="ko-KR" altLang="en-US" sz="8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7" name="Group 48"/>
          <p:cNvGrpSpPr>
            <a:grpSpLocks/>
          </p:cNvGrpSpPr>
          <p:nvPr/>
        </p:nvGrpSpPr>
        <p:grpSpPr bwMode="auto">
          <a:xfrm>
            <a:off x="1085877" y="5056985"/>
            <a:ext cx="28223927" cy="37157589"/>
            <a:chOff x="431" y="2424"/>
            <a:chExt cx="11204" cy="6897"/>
          </a:xfrm>
        </p:grpSpPr>
        <p:sp>
          <p:nvSpPr>
            <p:cNvPr id="28" name="Line 39"/>
            <p:cNvSpPr>
              <a:spLocks noChangeShapeType="1"/>
            </p:cNvSpPr>
            <p:nvPr/>
          </p:nvSpPr>
          <p:spPr bwMode="auto">
            <a:xfrm>
              <a:off x="431" y="2424"/>
              <a:ext cx="0" cy="6895"/>
            </a:xfrm>
            <a:prstGeom prst="line">
              <a:avLst/>
            </a:prstGeom>
            <a:noFill/>
            <a:ln w="889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9" name="Line 40"/>
            <p:cNvSpPr>
              <a:spLocks noChangeShapeType="1"/>
            </p:cNvSpPr>
            <p:nvPr/>
          </p:nvSpPr>
          <p:spPr bwMode="auto">
            <a:xfrm>
              <a:off x="431" y="9321"/>
              <a:ext cx="11204" cy="0"/>
            </a:xfrm>
            <a:prstGeom prst="line">
              <a:avLst/>
            </a:prstGeom>
            <a:noFill/>
            <a:ln w="889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>
              <a:off x="11635" y="2424"/>
              <a:ext cx="0" cy="6897"/>
            </a:xfrm>
            <a:prstGeom prst="line">
              <a:avLst/>
            </a:prstGeom>
            <a:noFill/>
            <a:ln w="889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1085877" y="5058446"/>
            <a:ext cx="28223927" cy="0"/>
          </a:xfrm>
          <a:prstGeom prst="line">
            <a:avLst/>
          </a:prstGeom>
          <a:noFill/>
          <a:ln w="889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84260" y="3906318"/>
            <a:ext cx="28711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ea typeface="문체부 제목 돋음체" panose="020B0609000101010101" pitchFamily="49" charset="-127"/>
              </a:rPr>
              <a:t>학교 </a:t>
            </a:r>
            <a:r>
              <a:rPr lang="en-US" altLang="ko-KR" sz="5400" b="1" dirty="0">
                <a:ea typeface="문체부 제목 돋음체" panose="020B0609000101010101" pitchFamily="49" charset="-127"/>
              </a:rPr>
              <a:t>: </a:t>
            </a:r>
            <a:r>
              <a:rPr lang="ko-KR" altLang="en-US" sz="5400" b="1" dirty="0" err="1">
                <a:ea typeface="문체부 제목 돋음체" panose="020B0609000101010101" pitchFamily="49" charset="-127"/>
              </a:rPr>
              <a:t>인천대건고등학교</a:t>
            </a:r>
            <a:r>
              <a:rPr lang="ko-KR" altLang="en-US" sz="5400" b="1" dirty="0">
                <a:ea typeface="문체부 제목 돋음체" panose="020B0609000101010101" pitchFamily="49" charset="-127"/>
              </a:rPr>
              <a:t>     </a:t>
            </a:r>
            <a:r>
              <a:rPr lang="ko-KR" altLang="en-US" sz="5400" b="1" dirty="0" err="1">
                <a:ea typeface="문체부 제목 돋음체" panose="020B0609000101010101" pitchFamily="49" charset="-127"/>
              </a:rPr>
              <a:t>팀명</a:t>
            </a:r>
            <a:r>
              <a:rPr lang="ko-KR" altLang="en-US" sz="5400" b="1" dirty="0">
                <a:ea typeface="문체부 제목 돋음체" panose="020B0609000101010101" pitchFamily="49" charset="-127"/>
              </a:rPr>
              <a:t> </a:t>
            </a:r>
            <a:r>
              <a:rPr lang="en-US" altLang="ko-KR" sz="5400" b="1" dirty="0">
                <a:ea typeface="문체부 제목 돋음체" panose="020B0609000101010101" pitchFamily="49" charset="-127"/>
              </a:rPr>
              <a:t>: </a:t>
            </a:r>
            <a:r>
              <a:rPr lang="ko-KR" altLang="en-US" sz="5400" b="1" dirty="0">
                <a:ea typeface="문체부 제목 돋음체" panose="020B0609000101010101" pitchFamily="49" charset="-127"/>
              </a:rPr>
              <a:t>코사모팀</a:t>
            </a:r>
            <a:r>
              <a:rPr lang="en-US" altLang="ko-KR" sz="5400" b="1" dirty="0">
                <a:ea typeface="문체부 제목 돋음체" panose="020B0609000101010101" pitchFamily="49" charset="-127"/>
              </a:rPr>
              <a:t>      </a:t>
            </a:r>
            <a:r>
              <a:rPr lang="ko-KR" altLang="en-US" sz="5400" b="1" dirty="0">
                <a:ea typeface="문체부 제목 돋음체" panose="020B0609000101010101" pitchFamily="49" charset="-127"/>
              </a:rPr>
              <a:t>팀원 </a:t>
            </a:r>
            <a:r>
              <a:rPr lang="en-US" altLang="ko-KR" sz="5400" b="1" dirty="0">
                <a:ea typeface="문체부 제목 돋음체" panose="020B0609000101010101" pitchFamily="49" charset="-127"/>
              </a:rPr>
              <a:t>: </a:t>
            </a:r>
            <a:r>
              <a:rPr lang="ko-KR" altLang="en-US" sz="5400" b="1" dirty="0">
                <a:ea typeface="문체부 제목 돋음체" panose="020B0609000101010101" pitchFamily="49" charset="-127"/>
              </a:rPr>
              <a:t>박태현</a:t>
            </a:r>
            <a:r>
              <a:rPr lang="en-US" altLang="ko-KR" sz="5400" b="1" dirty="0">
                <a:ea typeface="문체부 제목 돋음체" panose="020B0609000101010101" pitchFamily="49" charset="-127"/>
              </a:rPr>
              <a:t>, </a:t>
            </a:r>
            <a:r>
              <a:rPr lang="ko-KR" altLang="en-US" sz="5400" b="1" dirty="0">
                <a:ea typeface="문체부 제목 돋음체" panose="020B0609000101010101" pitchFamily="49" charset="-127"/>
              </a:rPr>
              <a:t>신도윤</a:t>
            </a:r>
            <a:r>
              <a:rPr lang="en-US" altLang="ko-KR" sz="5400" b="1" dirty="0">
                <a:ea typeface="문체부 제목 돋음체" panose="020B0609000101010101" pitchFamily="49" charset="-127"/>
              </a:rPr>
              <a:t>, </a:t>
            </a:r>
            <a:r>
              <a:rPr lang="ko-KR" altLang="en-US" sz="5400" b="1" dirty="0" err="1">
                <a:ea typeface="문체부 제목 돋음체" panose="020B0609000101010101" pitchFamily="49" charset="-127"/>
              </a:rPr>
              <a:t>한정민</a:t>
            </a:r>
            <a:endParaRPr lang="ko-KR" altLang="en-US" sz="5400" b="1" dirty="0">
              <a:ea typeface="문체부 제목 돋음체" panose="020B0609000101010101" pitchFamily="49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EE85DA3-9D5E-4206-A7A0-6C26838ADBC2}"/>
              </a:ext>
            </a:extLst>
          </p:cNvPr>
          <p:cNvSpPr/>
          <p:nvPr/>
        </p:nvSpPr>
        <p:spPr>
          <a:xfrm>
            <a:off x="1242449" y="5285783"/>
            <a:ext cx="27951640" cy="1298817"/>
          </a:xfrm>
          <a:prstGeom prst="rect">
            <a:avLst/>
          </a:prstGeom>
          <a:solidFill>
            <a:srgbClr val="AA9890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0" b="1" i="1" dirty="0">
                <a:solidFill>
                  <a:prstClr val="white"/>
                </a:solidFill>
              </a:rPr>
              <a:t>THUMBNAIL FINDER</a:t>
            </a:r>
          </a:p>
        </p:txBody>
      </p: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9C56EAD3-FEA8-4394-B22C-4C61B6F2B184}"/>
              </a:ext>
            </a:extLst>
          </p:cNvPr>
          <p:cNvGrpSpPr/>
          <p:nvPr/>
        </p:nvGrpSpPr>
        <p:grpSpPr>
          <a:xfrm>
            <a:off x="1908786" y="6984806"/>
            <a:ext cx="26471521" cy="5724168"/>
            <a:chOff x="1908786" y="6984806"/>
            <a:chExt cx="26471521" cy="5724168"/>
          </a:xfrm>
        </p:grpSpPr>
        <p:sp>
          <p:nvSpPr>
            <p:cNvPr id="200" name="평행 사변형 199">
              <a:extLst>
                <a:ext uri="{FF2B5EF4-FFF2-40B4-BE49-F238E27FC236}">
                  <a16:creationId xmlns:a16="http://schemas.microsoft.com/office/drawing/2014/main" id="{77B60488-0C4E-4ABA-A4B9-6A4F5D62952C}"/>
                </a:ext>
              </a:extLst>
            </p:cNvPr>
            <p:cNvSpPr/>
            <p:nvPr/>
          </p:nvSpPr>
          <p:spPr>
            <a:xfrm flipV="1">
              <a:off x="2107640" y="9768236"/>
              <a:ext cx="3420713" cy="1186545"/>
            </a:xfrm>
            <a:prstGeom prst="parallelogram">
              <a:avLst>
                <a:gd name="adj" fmla="val 98942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5BCAF92-356B-4587-AF59-BD492972C669}"/>
                </a:ext>
              </a:extLst>
            </p:cNvPr>
            <p:cNvGrpSpPr/>
            <p:nvPr/>
          </p:nvGrpSpPr>
          <p:grpSpPr>
            <a:xfrm>
              <a:off x="1908786" y="6984806"/>
              <a:ext cx="26471521" cy="5724168"/>
              <a:chOff x="9797272" y="12844179"/>
              <a:chExt cx="26471521" cy="5724168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A624EDE6-2503-408B-A10E-84567BEF626D}"/>
                  </a:ext>
                </a:extLst>
              </p:cNvPr>
              <p:cNvGrpSpPr/>
              <p:nvPr/>
            </p:nvGrpSpPr>
            <p:grpSpPr>
              <a:xfrm>
                <a:off x="9797272" y="12844179"/>
                <a:ext cx="26471521" cy="5724168"/>
                <a:chOff x="3084043" y="8603831"/>
                <a:chExt cx="26471521" cy="5724168"/>
              </a:xfrm>
            </p:grpSpPr>
            <p:grpSp>
              <p:nvGrpSpPr>
                <p:cNvPr id="20" name="그룹 19">
                  <a:extLst>
                    <a:ext uri="{FF2B5EF4-FFF2-40B4-BE49-F238E27FC236}">
                      <a16:creationId xmlns:a16="http://schemas.microsoft.com/office/drawing/2014/main" id="{05F40F6D-E232-4C30-8097-4041C1591925}"/>
                    </a:ext>
                  </a:extLst>
                </p:cNvPr>
                <p:cNvGrpSpPr/>
                <p:nvPr/>
              </p:nvGrpSpPr>
              <p:grpSpPr>
                <a:xfrm>
                  <a:off x="3084043" y="8603831"/>
                  <a:ext cx="11185788" cy="5724168"/>
                  <a:chOff x="34067172" y="20810399"/>
                  <a:chExt cx="2819742" cy="2183237"/>
                </a:xfrm>
              </p:grpSpPr>
              <p:sp>
                <p:nvSpPr>
                  <p:cNvPr id="149" name="직사각형 148">
                    <a:extLst>
                      <a:ext uri="{FF2B5EF4-FFF2-40B4-BE49-F238E27FC236}">
                        <a16:creationId xmlns:a16="http://schemas.microsoft.com/office/drawing/2014/main" id="{1490E06B-AF9D-4223-A8C5-33CC2B17BBFD}"/>
                      </a:ext>
                    </a:extLst>
                  </p:cNvPr>
                  <p:cNvSpPr/>
                  <p:nvPr/>
                </p:nvSpPr>
                <p:spPr>
                  <a:xfrm>
                    <a:off x="34283057" y="22889405"/>
                    <a:ext cx="2498855" cy="1042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  <a:scene3d>
                      <a:camera prst="perspectiveRelaxedModerately" fov="2400000">
                        <a:rot lat="20696791" lon="1493232" rev="21147339"/>
                      </a:camera>
                      <a:lightRig rig="threePt" dir="t"/>
                    </a:scene3d>
                    <a:sp3d z="635000"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50000"/>
                      </a:lnSpc>
                    </a:pPr>
                    <a:endParaRPr lang="ko-KR" altLang="en-US" sz="9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grpSp>
                <p:nvGrpSpPr>
                  <p:cNvPr id="145" name="Group 28">
                    <a:extLst>
                      <a:ext uri="{FF2B5EF4-FFF2-40B4-BE49-F238E27FC236}">
                        <a16:creationId xmlns:a16="http://schemas.microsoft.com/office/drawing/2014/main" id="{6EB58DED-A9D6-409B-B1BC-828810F87D9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35346376" y="20810399"/>
                    <a:ext cx="560052" cy="490155"/>
                    <a:chOff x="496" y="4251"/>
                    <a:chExt cx="641" cy="561"/>
                  </a:xfrm>
                  <a:solidFill>
                    <a:schemeClr val="bg2">
                      <a:lumMod val="50000"/>
                    </a:schemeClr>
                  </a:solidFill>
                </p:grpSpPr>
                <p:sp>
                  <p:nvSpPr>
                    <p:cNvPr id="146" name="Freeform 30">
                      <a:extLst>
                        <a:ext uri="{FF2B5EF4-FFF2-40B4-BE49-F238E27FC236}">
                          <a16:creationId xmlns:a16="http://schemas.microsoft.com/office/drawing/2014/main" id="{76E28441-3244-4475-B993-7141C82908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09" y="4720"/>
                      <a:ext cx="88" cy="92"/>
                    </a:xfrm>
                    <a:custGeom>
                      <a:avLst/>
                      <a:gdLst>
                        <a:gd name="T0" fmla="*/ 0 w 526"/>
                        <a:gd name="T1" fmla="*/ 0 h 553"/>
                        <a:gd name="T2" fmla="*/ 526 w 526"/>
                        <a:gd name="T3" fmla="*/ 250 h 553"/>
                        <a:gd name="T4" fmla="*/ 97 w 526"/>
                        <a:gd name="T5" fmla="*/ 542 h 553"/>
                        <a:gd name="T6" fmla="*/ 81 w 526"/>
                        <a:gd name="T7" fmla="*/ 549 h 553"/>
                        <a:gd name="T8" fmla="*/ 65 w 526"/>
                        <a:gd name="T9" fmla="*/ 553 h 553"/>
                        <a:gd name="T10" fmla="*/ 49 w 526"/>
                        <a:gd name="T11" fmla="*/ 552 h 553"/>
                        <a:gd name="T12" fmla="*/ 34 w 526"/>
                        <a:gd name="T13" fmla="*/ 546 h 553"/>
                        <a:gd name="T14" fmla="*/ 20 w 526"/>
                        <a:gd name="T15" fmla="*/ 535 h 553"/>
                        <a:gd name="T16" fmla="*/ 9 w 526"/>
                        <a:gd name="T17" fmla="*/ 522 h 553"/>
                        <a:gd name="T18" fmla="*/ 2 w 526"/>
                        <a:gd name="T19" fmla="*/ 507 h 553"/>
                        <a:gd name="T20" fmla="*/ 0 w 526"/>
                        <a:gd name="T21" fmla="*/ 490 h 553"/>
                        <a:gd name="T22" fmla="*/ 0 w 526"/>
                        <a:gd name="T23" fmla="*/ 0 h 5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26" h="553">
                          <a:moveTo>
                            <a:pt x="0" y="0"/>
                          </a:moveTo>
                          <a:lnTo>
                            <a:pt x="526" y="250"/>
                          </a:lnTo>
                          <a:lnTo>
                            <a:pt x="97" y="542"/>
                          </a:lnTo>
                          <a:lnTo>
                            <a:pt x="81" y="549"/>
                          </a:lnTo>
                          <a:lnTo>
                            <a:pt x="65" y="553"/>
                          </a:lnTo>
                          <a:lnTo>
                            <a:pt x="49" y="552"/>
                          </a:lnTo>
                          <a:lnTo>
                            <a:pt x="34" y="546"/>
                          </a:lnTo>
                          <a:lnTo>
                            <a:pt x="20" y="535"/>
                          </a:lnTo>
                          <a:lnTo>
                            <a:pt x="9" y="522"/>
                          </a:lnTo>
                          <a:lnTo>
                            <a:pt x="2" y="507"/>
                          </a:lnTo>
                          <a:lnTo>
                            <a:pt x="0" y="49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400">
                        <a:solidFill>
                          <a:prstClr val="black"/>
                        </a:solidFill>
                        <a:latin typeface="+mn-ea"/>
                      </a:endParaRPr>
                    </a:p>
                  </p:txBody>
                </p:sp>
                <p:sp>
                  <p:nvSpPr>
                    <p:cNvPr id="147" name="Freeform 31">
                      <a:extLst>
                        <a:ext uri="{FF2B5EF4-FFF2-40B4-BE49-F238E27FC236}">
                          <a16:creationId xmlns:a16="http://schemas.microsoft.com/office/drawing/2014/main" id="{C7A666BB-217E-4293-B5C7-C7B50A51F4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6" y="4251"/>
                      <a:ext cx="641" cy="530"/>
                    </a:xfrm>
                    <a:custGeom>
                      <a:avLst/>
                      <a:gdLst>
                        <a:gd name="T0" fmla="*/ 3785 w 3847"/>
                        <a:gd name="T1" fmla="*/ 0 h 3180"/>
                        <a:gd name="T2" fmla="*/ 3800 w 3847"/>
                        <a:gd name="T3" fmla="*/ 2 h 3180"/>
                        <a:gd name="T4" fmla="*/ 3814 w 3847"/>
                        <a:gd name="T5" fmla="*/ 7 h 3180"/>
                        <a:gd name="T6" fmla="*/ 3827 w 3847"/>
                        <a:gd name="T7" fmla="*/ 16 h 3180"/>
                        <a:gd name="T8" fmla="*/ 3839 w 3847"/>
                        <a:gd name="T9" fmla="*/ 31 h 3180"/>
                        <a:gd name="T10" fmla="*/ 3846 w 3847"/>
                        <a:gd name="T11" fmla="*/ 49 h 3180"/>
                        <a:gd name="T12" fmla="*/ 3847 w 3847"/>
                        <a:gd name="T13" fmla="*/ 66 h 3180"/>
                        <a:gd name="T14" fmla="*/ 3842 w 3847"/>
                        <a:gd name="T15" fmla="*/ 85 h 3180"/>
                        <a:gd name="T16" fmla="*/ 2642 w 3847"/>
                        <a:gd name="T17" fmla="*/ 3110 h 3180"/>
                        <a:gd name="T18" fmla="*/ 2631 w 3847"/>
                        <a:gd name="T19" fmla="*/ 3130 h 3180"/>
                        <a:gd name="T20" fmla="*/ 2617 w 3847"/>
                        <a:gd name="T21" fmla="*/ 3147 h 3180"/>
                        <a:gd name="T22" fmla="*/ 2600 w 3847"/>
                        <a:gd name="T23" fmla="*/ 3161 h 3180"/>
                        <a:gd name="T24" fmla="*/ 2579 w 3847"/>
                        <a:gd name="T25" fmla="*/ 3172 h 3180"/>
                        <a:gd name="T26" fmla="*/ 2559 w 3847"/>
                        <a:gd name="T27" fmla="*/ 3178 h 3180"/>
                        <a:gd name="T28" fmla="*/ 2539 w 3847"/>
                        <a:gd name="T29" fmla="*/ 3180 h 3180"/>
                        <a:gd name="T30" fmla="*/ 2514 w 3847"/>
                        <a:gd name="T31" fmla="*/ 3177 h 3180"/>
                        <a:gd name="T32" fmla="*/ 2491 w 3847"/>
                        <a:gd name="T33" fmla="*/ 3168 h 3180"/>
                        <a:gd name="T34" fmla="*/ 1278 w 3847"/>
                        <a:gd name="T35" fmla="*/ 2591 h 3180"/>
                        <a:gd name="T36" fmla="*/ 2984 w 3847"/>
                        <a:gd name="T37" fmla="*/ 878 h 3180"/>
                        <a:gd name="T38" fmla="*/ 1036 w 3847"/>
                        <a:gd name="T39" fmla="*/ 2477 h 3180"/>
                        <a:gd name="T40" fmla="*/ 63 w 3847"/>
                        <a:gd name="T41" fmla="*/ 2014 h 3180"/>
                        <a:gd name="T42" fmla="*/ 42 w 3847"/>
                        <a:gd name="T43" fmla="*/ 2000 h 3180"/>
                        <a:gd name="T44" fmla="*/ 24 w 3847"/>
                        <a:gd name="T45" fmla="*/ 1983 h 3180"/>
                        <a:gd name="T46" fmla="*/ 11 w 3847"/>
                        <a:gd name="T47" fmla="*/ 1963 h 3180"/>
                        <a:gd name="T48" fmla="*/ 3 w 3847"/>
                        <a:gd name="T49" fmla="*/ 1940 h 3180"/>
                        <a:gd name="T50" fmla="*/ 0 w 3847"/>
                        <a:gd name="T51" fmla="*/ 1915 h 3180"/>
                        <a:gd name="T52" fmla="*/ 2 w 3847"/>
                        <a:gd name="T53" fmla="*/ 1891 h 3180"/>
                        <a:gd name="T54" fmla="*/ 10 w 3847"/>
                        <a:gd name="T55" fmla="*/ 1867 h 3180"/>
                        <a:gd name="T56" fmla="*/ 23 w 3847"/>
                        <a:gd name="T57" fmla="*/ 1846 h 3180"/>
                        <a:gd name="T58" fmla="*/ 41 w 3847"/>
                        <a:gd name="T59" fmla="*/ 1829 h 3180"/>
                        <a:gd name="T60" fmla="*/ 62 w 3847"/>
                        <a:gd name="T61" fmla="*/ 1816 h 3180"/>
                        <a:gd name="T62" fmla="*/ 3757 w 3847"/>
                        <a:gd name="T63" fmla="*/ 5 h 3180"/>
                        <a:gd name="T64" fmla="*/ 3771 w 3847"/>
                        <a:gd name="T65" fmla="*/ 1 h 3180"/>
                        <a:gd name="T66" fmla="*/ 3785 w 3847"/>
                        <a:gd name="T67" fmla="*/ 0 h 31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</a:cxnLst>
                      <a:rect l="0" t="0" r="r" b="b"/>
                      <a:pathLst>
                        <a:path w="3847" h="3180">
                          <a:moveTo>
                            <a:pt x="3785" y="0"/>
                          </a:moveTo>
                          <a:lnTo>
                            <a:pt x="3800" y="2"/>
                          </a:lnTo>
                          <a:lnTo>
                            <a:pt x="3814" y="7"/>
                          </a:lnTo>
                          <a:lnTo>
                            <a:pt x="3827" y="16"/>
                          </a:lnTo>
                          <a:lnTo>
                            <a:pt x="3839" y="31"/>
                          </a:lnTo>
                          <a:lnTo>
                            <a:pt x="3846" y="49"/>
                          </a:lnTo>
                          <a:lnTo>
                            <a:pt x="3847" y="66"/>
                          </a:lnTo>
                          <a:lnTo>
                            <a:pt x="3842" y="85"/>
                          </a:lnTo>
                          <a:lnTo>
                            <a:pt x="2642" y="3110"/>
                          </a:lnTo>
                          <a:lnTo>
                            <a:pt x="2631" y="3130"/>
                          </a:lnTo>
                          <a:lnTo>
                            <a:pt x="2617" y="3147"/>
                          </a:lnTo>
                          <a:lnTo>
                            <a:pt x="2600" y="3161"/>
                          </a:lnTo>
                          <a:lnTo>
                            <a:pt x="2579" y="3172"/>
                          </a:lnTo>
                          <a:lnTo>
                            <a:pt x="2559" y="3178"/>
                          </a:lnTo>
                          <a:lnTo>
                            <a:pt x="2539" y="3180"/>
                          </a:lnTo>
                          <a:lnTo>
                            <a:pt x="2514" y="3177"/>
                          </a:lnTo>
                          <a:lnTo>
                            <a:pt x="2491" y="3168"/>
                          </a:lnTo>
                          <a:lnTo>
                            <a:pt x="1278" y="2591"/>
                          </a:lnTo>
                          <a:lnTo>
                            <a:pt x="2984" y="878"/>
                          </a:lnTo>
                          <a:lnTo>
                            <a:pt x="1036" y="2477"/>
                          </a:lnTo>
                          <a:lnTo>
                            <a:pt x="63" y="2014"/>
                          </a:lnTo>
                          <a:lnTo>
                            <a:pt x="42" y="2000"/>
                          </a:lnTo>
                          <a:lnTo>
                            <a:pt x="24" y="1983"/>
                          </a:lnTo>
                          <a:lnTo>
                            <a:pt x="11" y="1963"/>
                          </a:lnTo>
                          <a:lnTo>
                            <a:pt x="3" y="1940"/>
                          </a:lnTo>
                          <a:lnTo>
                            <a:pt x="0" y="1915"/>
                          </a:lnTo>
                          <a:lnTo>
                            <a:pt x="2" y="1891"/>
                          </a:lnTo>
                          <a:lnTo>
                            <a:pt x="10" y="1867"/>
                          </a:lnTo>
                          <a:lnTo>
                            <a:pt x="23" y="1846"/>
                          </a:lnTo>
                          <a:lnTo>
                            <a:pt x="41" y="1829"/>
                          </a:lnTo>
                          <a:lnTo>
                            <a:pt x="62" y="1816"/>
                          </a:lnTo>
                          <a:lnTo>
                            <a:pt x="3757" y="5"/>
                          </a:lnTo>
                          <a:lnTo>
                            <a:pt x="3771" y="1"/>
                          </a:lnTo>
                          <a:lnTo>
                            <a:pt x="3785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400">
                        <a:solidFill>
                          <a:prstClr val="black"/>
                        </a:solidFill>
                        <a:latin typeface="+mn-ea"/>
                      </a:endParaRPr>
                    </a:p>
                  </p:txBody>
                </p:sp>
              </p:grpSp>
              <p:sp>
                <p:nvSpPr>
                  <p:cNvPr id="148" name="평행 사변형 147">
                    <a:extLst>
                      <a:ext uri="{FF2B5EF4-FFF2-40B4-BE49-F238E27FC236}">
                        <a16:creationId xmlns:a16="http://schemas.microsoft.com/office/drawing/2014/main" id="{6494F5E0-D4BF-4FE3-A946-807A6C45D007}"/>
                      </a:ext>
                    </a:extLst>
                  </p:cNvPr>
                  <p:cNvSpPr/>
                  <p:nvPr/>
                </p:nvSpPr>
                <p:spPr>
                  <a:xfrm>
                    <a:off x="34067172" y="20816514"/>
                    <a:ext cx="1802856" cy="2103365"/>
                  </a:xfrm>
                  <a:prstGeom prst="parallelogram">
                    <a:avLst>
                      <a:gd name="adj" fmla="val 40029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355600" dist="520700" dir="10800000" sx="69000" sy="69000" algn="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3" name="평행 사변형 142">
                    <a:extLst>
                      <a:ext uri="{FF2B5EF4-FFF2-40B4-BE49-F238E27FC236}">
                        <a16:creationId xmlns:a16="http://schemas.microsoft.com/office/drawing/2014/main" id="{CB2CD555-038C-46DE-9F3B-45DE17F061B2}"/>
                      </a:ext>
                    </a:extLst>
                  </p:cNvPr>
                  <p:cNvSpPr/>
                  <p:nvPr/>
                </p:nvSpPr>
                <p:spPr>
                  <a:xfrm>
                    <a:off x="34111085" y="21153094"/>
                    <a:ext cx="2775829" cy="738070"/>
                  </a:xfrm>
                  <a:prstGeom prst="parallelogram">
                    <a:avLst>
                      <a:gd name="adj" fmla="val 23798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2000" b="1" dirty="0"/>
                  </a:p>
                </p:txBody>
              </p:sp>
            </p:grp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71EB3D4D-37EF-4443-A131-74D9F11369B8}"/>
                    </a:ext>
                  </a:extLst>
                </p:cNvPr>
                <p:cNvSpPr/>
                <p:nvPr/>
              </p:nvSpPr>
              <p:spPr>
                <a:xfrm>
                  <a:off x="14417164" y="10086865"/>
                  <a:ext cx="15138400" cy="1569660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marL="685800" lvl="0" indent="-685800" algn="l">
                    <a:buFont typeface="Wingdings" panose="05000000000000000000" pitchFamily="2" charset="2"/>
                    <a:buChar char="l"/>
                  </a:pPr>
                  <a:r>
                    <a:rPr lang="ko-KR" altLang="en-US" sz="3200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유튜브 시청 시 썸네일을 보고 해당 부분을 보고 싶은 경우</a:t>
                  </a:r>
                  <a:endParaRPr lang="en-US" altLang="ko-KR" sz="32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 marL="685800" lvl="0" indent="-685800" algn="l">
                    <a:buFont typeface="Wingdings" panose="05000000000000000000" pitchFamily="2" charset="2"/>
                    <a:buChar char="l"/>
                  </a:pPr>
                  <a:r>
                    <a:rPr lang="ko-KR" altLang="en-US" sz="3200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특정 동영상 파일의 특정 장면을 찾아 보고 싶은 경우</a:t>
                  </a:r>
                  <a:endParaRPr lang="en-US" altLang="ko-KR" sz="32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 marL="685800" lvl="0" indent="-685800" algn="l">
                    <a:buFont typeface="Wingdings" panose="05000000000000000000" pitchFamily="2" charset="2"/>
                    <a:buChar char="l"/>
                  </a:pPr>
                  <a:endParaRPr lang="en-US" altLang="ko-KR" sz="32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59" name="직사각형 158">
                  <a:extLst>
                    <a:ext uri="{FF2B5EF4-FFF2-40B4-BE49-F238E27FC236}">
                      <a16:creationId xmlns:a16="http://schemas.microsoft.com/office/drawing/2014/main" id="{60C02D9A-A69F-49AE-9D25-5283C4F2DCE6}"/>
                    </a:ext>
                  </a:extLst>
                </p:cNvPr>
                <p:cNvSpPr/>
                <p:nvPr/>
              </p:nvSpPr>
              <p:spPr>
                <a:xfrm>
                  <a:off x="8125422" y="11424337"/>
                  <a:ext cx="20816231" cy="206210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 algn="l"/>
                  <a:endParaRPr lang="en-US" altLang="ko-KR" sz="32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 marL="685800" indent="-685800" algn="l">
                    <a:buFont typeface="Wingdings" panose="05000000000000000000" pitchFamily="2" charset="2"/>
                    <a:buChar char="l"/>
                  </a:pPr>
                  <a:r>
                    <a:rPr lang="ko-KR" altLang="en-US" sz="3200" dirty="0">
                      <a:solidFill>
                        <a:srgbClr val="000000"/>
                      </a:solidFill>
                      <a:latin typeface="+mn-ea"/>
                    </a:rPr>
                    <a:t>유튜브 </a:t>
                  </a:r>
                  <a:r>
                    <a:rPr lang="en-US" altLang="ko-KR" sz="3200" dirty="0">
                      <a:solidFill>
                        <a:srgbClr val="000000"/>
                      </a:solidFill>
                      <a:latin typeface="+mn-ea"/>
                    </a:rPr>
                    <a:t>URL</a:t>
                  </a:r>
                  <a:r>
                    <a:rPr lang="ko-KR" altLang="en-US" sz="3200" dirty="0">
                      <a:solidFill>
                        <a:srgbClr val="000000"/>
                      </a:solidFill>
                      <a:latin typeface="+mn-ea"/>
                    </a:rPr>
                    <a:t>을 입력하여 해당 영상 </a:t>
                  </a:r>
                  <a:r>
                    <a:rPr lang="en-US" altLang="ko-KR" sz="3200" dirty="0">
                      <a:solidFill>
                        <a:srgbClr val="000000"/>
                      </a:solidFill>
                      <a:latin typeface="+mn-ea"/>
                    </a:rPr>
                    <a:t>Thumbnail </a:t>
                  </a:r>
                  <a:r>
                    <a:rPr lang="ko-KR" altLang="en-US" sz="3200" dirty="0">
                      <a:solidFill>
                        <a:srgbClr val="000000"/>
                      </a:solidFill>
                      <a:latin typeface="+mn-ea"/>
                    </a:rPr>
                    <a:t>파일과 영상을 분석하여 가장 유사한 해당 위치를 검색</a:t>
                  </a:r>
                  <a:endParaRPr lang="en-US" altLang="ko-KR" sz="3200" dirty="0">
                    <a:solidFill>
                      <a:srgbClr val="000000"/>
                    </a:solidFill>
                    <a:latin typeface="+mn-ea"/>
                  </a:endParaRPr>
                </a:p>
                <a:p>
                  <a:pPr marL="685800" indent="-685800" algn="l">
                    <a:buFont typeface="Wingdings" panose="05000000000000000000" pitchFamily="2" charset="2"/>
                    <a:buChar char="l"/>
                  </a:pPr>
                  <a:r>
                    <a:rPr lang="ko-KR" altLang="en-US" sz="3200" dirty="0">
                      <a:solidFill>
                        <a:srgbClr val="000000"/>
                      </a:solidFill>
                      <a:latin typeface="+mn-ea"/>
                    </a:rPr>
                    <a:t>결과로 바로 이동 가능하도록 </a:t>
                  </a:r>
                  <a:r>
                    <a:rPr lang="en-US" altLang="ko-KR" sz="3200" dirty="0" err="1">
                      <a:solidFill>
                        <a:srgbClr val="000000"/>
                      </a:solidFill>
                      <a:latin typeface="+mn-ea"/>
                    </a:rPr>
                    <a:t>Url</a:t>
                  </a:r>
                  <a:r>
                    <a:rPr lang="en-US" altLang="ko-KR" sz="3200" dirty="0">
                      <a:solidFill>
                        <a:srgbClr val="000000"/>
                      </a:solidFill>
                      <a:latin typeface="+mn-ea"/>
                    </a:rPr>
                    <a:t> </a:t>
                  </a:r>
                  <a:r>
                    <a:rPr lang="ko-KR" altLang="en-US" sz="3200" dirty="0">
                      <a:solidFill>
                        <a:srgbClr val="000000"/>
                      </a:solidFill>
                      <a:latin typeface="+mn-ea"/>
                    </a:rPr>
                    <a:t>제공</a:t>
                  </a:r>
                  <a:endParaRPr lang="en-US" altLang="ko-KR" sz="3200" dirty="0">
                    <a:solidFill>
                      <a:srgbClr val="000000"/>
                    </a:solidFill>
                    <a:latin typeface="+mn-ea"/>
                  </a:endParaRPr>
                </a:p>
                <a:p>
                  <a:pPr lvl="0" algn="l"/>
                  <a:endParaRPr lang="en-US" altLang="ko-KR" sz="32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F39CE7E6-9CB7-4773-923A-1CDCD27F9999}"/>
                  </a:ext>
                </a:extLst>
              </p:cNvPr>
              <p:cNvGrpSpPr/>
              <p:nvPr/>
            </p:nvGrpSpPr>
            <p:grpSpPr>
              <a:xfrm>
                <a:off x="11807925" y="15831470"/>
                <a:ext cx="2874964" cy="2027374"/>
                <a:chOff x="5137004" y="11418830"/>
                <a:chExt cx="2874964" cy="2027374"/>
              </a:xfrm>
            </p:grpSpPr>
            <p:sp>
              <p:nvSpPr>
                <p:cNvPr id="157" name="화살표: 위로 굽음 156">
                  <a:extLst>
                    <a:ext uri="{FF2B5EF4-FFF2-40B4-BE49-F238E27FC236}">
                      <a16:creationId xmlns:a16="http://schemas.microsoft.com/office/drawing/2014/main" id="{D06BF01C-46D5-4A92-99F8-FBFAD8E05009}"/>
                    </a:ext>
                  </a:extLst>
                </p:cNvPr>
                <p:cNvSpPr/>
                <p:nvPr/>
              </p:nvSpPr>
              <p:spPr>
                <a:xfrm rot="5400000">
                  <a:off x="5132533" y="11833747"/>
                  <a:ext cx="572065" cy="563124"/>
                </a:xfrm>
                <a:prstGeom prst="bentUpArrow">
                  <a:avLst>
                    <a:gd name="adj1" fmla="val 20836"/>
                    <a:gd name="adj2" fmla="val 25000"/>
                    <a:gd name="adj3" fmla="val 34563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58" name="그림 157">
                  <a:extLst>
                    <a:ext uri="{FF2B5EF4-FFF2-40B4-BE49-F238E27FC236}">
                      <a16:creationId xmlns:a16="http://schemas.microsoft.com/office/drawing/2014/main" id="{03C4A897-C8FF-4549-8DCD-7221026B40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44730" y="11418830"/>
                  <a:ext cx="2067238" cy="2027374"/>
                </a:xfrm>
                <a:prstGeom prst="rect">
                  <a:avLst/>
                </a:prstGeom>
              </p:spPr>
            </p:pic>
          </p:grp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660F2AA-5364-4CB5-9BA1-983BFB8457B0}"/>
                  </a:ext>
                </a:extLst>
              </p:cNvPr>
              <p:cNvSpPr/>
              <p:nvPr/>
            </p:nvSpPr>
            <p:spPr>
              <a:xfrm>
                <a:off x="10504963" y="14404157"/>
                <a:ext cx="941174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ko-KR" altLang="en-US" sz="4000" b="1" dirty="0">
                    <a:solidFill>
                      <a:schemeClr val="bg1"/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개발 동기 및 배경</a:t>
                </a:r>
                <a:r>
                  <a:rPr lang="en-US" altLang="ko-KR" sz="4000" b="1" dirty="0">
                    <a:solidFill>
                      <a:schemeClr val="bg1"/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(Problem Statement)</a:t>
                </a:r>
                <a:endParaRPr lang="ko-KR" altLang="en-US" sz="4000" b="1" dirty="0">
                  <a:solidFill>
                    <a:schemeClr val="bg1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135" name="Freeform 5">
            <a:extLst>
              <a:ext uri="{FF2B5EF4-FFF2-40B4-BE49-F238E27FC236}">
                <a16:creationId xmlns:a16="http://schemas.microsoft.com/office/drawing/2014/main" id="{C0E6C987-4ACC-4CE4-8756-AE257BBC04D5}"/>
              </a:ext>
            </a:extLst>
          </p:cNvPr>
          <p:cNvSpPr>
            <a:spLocks/>
          </p:cNvSpPr>
          <p:nvPr/>
        </p:nvSpPr>
        <p:spPr bwMode="auto">
          <a:xfrm>
            <a:off x="1617480" y="13063859"/>
            <a:ext cx="26619335" cy="1667022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BF9784A-4D55-484E-B5F3-5CB461A54D9F}"/>
              </a:ext>
            </a:extLst>
          </p:cNvPr>
          <p:cNvSpPr/>
          <p:nvPr/>
        </p:nvSpPr>
        <p:spPr>
          <a:xfrm>
            <a:off x="2211091" y="14652220"/>
            <a:ext cx="25501579" cy="14586572"/>
          </a:xfrm>
          <a:prstGeom prst="rect">
            <a:avLst/>
          </a:prstGeom>
          <a:solidFill>
            <a:srgbClr val="F3C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3641799-7C50-4084-8344-BB2E593266DA}"/>
              </a:ext>
            </a:extLst>
          </p:cNvPr>
          <p:cNvSpPr/>
          <p:nvPr/>
        </p:nvSpPr>
        <p:spPr>
          <a:xfrm>
            <a:off x="3418870" y="13512084"/>
            <a:ext cx="13580739" cy="9035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4000" b="1" dirty="0">
                <a:solidFill>
                  <a:schemeClr val="bg1"/>
                </a:solidFill>
              </a:rPr>
              <a:t>해결 방안 </a:t>
            </a:r>
            <a:r>
              <a:rPr lang="en-US" altLang="ko-KR" sz="4000" b="1" dirty="0">
                <a:solidFill>
                  <a:schemeClr val="bg1"/>
                </a:solidFill>
              </a:rPr>
              <a:t>(Solution)</a:t>
            </a:r>
            <a:r>
              <a:rPr lang="en-US" altLang="ko-KR" sz="800" b="1" dirty="0">
                <a:solidFill>
                  <a:schemeClr val="bg1"/>
                </a:solidFill>
              </a:rPr>
              <a:t>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pic>
        <p:nvPicPr>
          <p:cNvPr id="184" name="그림 183">
            <a:extLst>
              <a:ext uri="{FF2B5EF4-FFF2-40B4-BE49-F238E27FC236}">
                <a16:creationId xmlns:a16="http://schemas.microsoft.com/office/drawing/2014/main" id="{2C53EA2E-448D-40F8-BECB-2A26916EF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504" y="16149298"/>
            <a:ext cx="10553053" cy="12889780"/>
          </a:xfrm>
          <a:prstGeom prst="rect">
            <a:avLst/>
          </a:prstGeom>
        </p:spPr>
      </p:pic>
      <p:sp>
        <p:nvSpPr>
          <p:cNvPr id="185" name="순서도: 대체 처리 184">
            <a:extLst>
              <a:ext uri="{FF2B5EF4-FFF2-40B4-BE49-F238E27FC236}">
                <a16:creationId xmlns:a16="http://schemas.microsoft.com/office/drawing/2014/main" id="{756507C4-5EBC-4AD7-BE8C-71DB0DC7A461}"/>
              </a:ext>
            </a:extLst>
          </p:cNvPr>
          <p:cNvSpPr/>
          <p:nvPr/>
        </p:nvSpPr>
        <p:spPr>
          <a:xfrm>
            <a:off x="5574779" y="15293279"/>
            <a:ext cx="5809100" cy="646986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ko-KR" altLang="en-US" sz="3200" b="1" dirty="0"/>
              <a:t>시스템구조 </a:t>
            </a:r>
            <a:r>
              <a:rPr lang="en-US" altLang="ko-KR" sz="3200" b="1" dirty="0"/>
              <a:t>/ Process Flow</a:t>
            </a:r>
            <a:endParaRPr lang="ko-KR" altLang="en-US" sz="3200" b="1" dirty="0"/>
          </a:p>
        </p:txBody>
      </p:sp>
      <p:sp>
        <p:nvSpPr>
          <p:cNvPr id="187" name="순서도: 대체 처리 186">
            <a:extLst>
              <a:ext uri="{FF2B5EF4-FFF2-40B4-BE49-F238E27FC236}">
                <a16:creationId xmlns:a16="http://schemas.microsoft.com/office/drawing/2014/main" id="{CFBC5197-3726-403A-9020-F8A71FB1C34E}"/>
              </a:ext>
            </a:extLst>
          </p:cNvPr>
          <p:cNvSpPr/>
          <p:nvPr/>
        </p:nvSpPr>
        <p:spPr>
          <a:xfrm>
            <a:off x="19948469" y="15167435"/>
            <a:ext cx="4443312" cy="646986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3200" b="1" dirty="0"/>
              <a:t>구현 기술</a:t>
            </a:r>
            <a:r>
              <a:rPr lang="en-US" altLang="ko-KR" sz="3200" b="1" dirty="0"/>
              <a:t>/</a:t>
            </a:r>
            <a:r>
              <a:rPr lang="ko-KR" altLang="en-US" sz="3200" b="1" dirty="0"/>
              <a:t> 알고리즘</a:t>
            </a:r>
          </a:p>
        </p:txBody>
      </p:sp>
      <p:pic>
        <p:nvPicPr>
          <p:cNvPr id="188" name="Picture 2" descr="OpenCV - 위키백과, 우리 모두의 백과사전">
            <a:extLst>
              <a:ext uri="{FF2B5EF4-FFF2-40B4-BE49-F238E27FC236}">
                <a16:creationId xmlns:a16="http://schemas.microsoft.com/office/drawing/2014/main" id="{5ECACDEF-F6CF-4C87-9C7C-7F89C9FF4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9609" y="16763233"/>
            <a:ext cx="2854478" cy="310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Picture 4" descr="닷넷 코어 - 위키백과, 우리 모두의 백과사전">
            <a:extLst>
              <a:ext uri="{FF2B5EF4-FFF2-40B4-BE49-F238E27FC236}">
                <a16:creationId xmlns:a16="http://schemas.microsoft.com/office/drawing/2014/main" id="{34F45AF0-ABA0-48D3-A3D0-6B7953249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1636" y="22669105"/>
            <a:ext cx="3161198" cy="328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Picture 6" descr="파일:Python-logo-notext.svg - 위키백과, 우리 모두의 백과사전">
            <a:extLst>
              <a:ext uri="{FF2B5EF4-FFF2-40B4-BE49-F238E27FC236}">
                <a16:creationId xmlns:a16="http://schemas.microsoft.com/office/drawing/2014/main" id="{2E0EDB3D-7A86-41A8-9293-4C40F1157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2383" y="16884490"/>
            <a:ext cx="2801098" cy="285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Picture 8" descr="Flasks in Python. Flask is a micro web framework written… | by Shivangi  Sareen | Medium">
            <a:extLst>
              <a:ext uri="{FF2B5EF4-FFF2-40B4-BE49-F238E27FC236}">
                <a16:creationId xmlns:a16="http://schemas.microsoft.com/office/drawing/2014/main" id="{9E06AA31-F0DE-4B0E-A47B-7B744175F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7" r="11630"/>
          <a:stretch/>
        </p:blipFill>
        <p:spPr bwMode="auto">
          <a:xfrm>
            <a:off x="17554229" y="22804984"/>
            <a:ext cx="3308939" cy="342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E4AE66AE-624A-40A4-9E0F-3B1DA5F79046}"/>
              </a:ext>
            </a:extLst>
          </p:cNvPr>
          <p:cNvSpPr txBox="1"/>
          <p:nvPr/>
        </p:nvSpPr>
        <p:spPr>
          <a:xfrm>
            <a:off x="16216970" y="20129624"/>
            <a:ext cx="50335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+mj-lt"/>
              </a:rPr>
              <a:t>SIFT</a:t>
            </a:r>
            <a:r>
              <a:rPr lang="ko-KR" altLang="en-US" sz="2800" dirty="0">
                <a:latin typeface="+mj-lt"/>
              </a:rPr>
              <a:t>의 </a:t>
            </a:r>
            <a:r>
              <a:rPr lang="en-US" altLang="ko-KR" sz="2800" dirty="0" err="1">
                <a:latin typeface="+mj-lt"/>
              </a:rPr>
              <a:t>knnMatch</a:t>
            </a:r>
            <a:r>
              <a:rPr lang="ko-KR" altLang="en-US" sz="2800" dirty="0">
                <a:latin typeface="+mj-lt"/>
              </a:rPr>
              <a:t>를</a:t>
            </a:r>
            <a:r>
              <a:rPr lang="en-US" altLang="ko-KR" sz="2800" dirty="0">
                <a:latin typeface="+mj-lt"/>
              </a:rPr>
              <a:t> </a:t>
            </a:r>
            <a:r>
              <a:rPr lang="ko-KR" altLang="en-US" sz="2800" dirty="0">
                <a:latin typeface="+mj-lt"/>
              </a:rPr>
              <a:t>사용하여 </a:t>
            </a:r>
            <a:endParaRPr lang="en-US" altLang="ko-KR" sz="2800" dirty="0">
              <a:latin typeface="+mj-lt"/>
            </a:endParaRPr>
          </a:p>
          <a:p>
            <a:r>
              <a:rPr lang="ko-KR" altLang="en-US" sz="2800" dirty="0">
                <a:latin typeface="+mj-lt"/>
              </a:rPr>
              <a:t>이미지의 특징점을 기록하고</a:t>
            </a:r>
            <a:endParaRPr lang="en-US" altLang="ko-KR" sz="2800" dirty="0">
              <a:latin typeface="+mj-lt"/>
            </a:endParaRPr>
          </a:p>
          <a:p>
            <a:r>
              <a:rPr lang="ko-KR" altLang="en-US" sz="2800" dirty="0">
                <a:latin typeface="+mj-lt"/>
              </a:rPr>
              <a:t>그 기록의 개수를 통해 </a:t>
            </a:r>
            <a:endParaRPr lang="en-US" altLang="ko-KR" sz="2800" dirty="0">
              <a:latin typeface="+mj-lt"/>
            </a:endParaRPr>
          </a:p>
          <a:p>
            <a:r>
              <a:rPr lang="ko-KR" altLang="en-US" sz="2800" dirty="0" err="1">
                <a:latin typeface="+mj-lt"/>
              </a:rPr>
              <a:t>일치율</a:t>
            </a:r>
            <a:r>
              <a:rPr lang="ko-KR" altLang="en-US" sz="2800" dirty="0">
                <a:latin typeface="+mj-lt"/>
              </a:rPr>
              <a:t> 비교</a:t>
            </a:r>
            <a:endParaRPr lang="en-US" altLang="ko-KR" sz="2800" dirty="0">
              <a:latin typeface="+mj-lt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0730116-3BE5-46D0-9B33-C5E84C6AB849}"/>
              </a:ext>
            </a:extLst>
          </p:cNvPr>
          <p:cNvSpPr txBox="1"/>
          <p:nvPr/>
        </p:nvSpPr>
        <p:spPr>
          <a:xfrm>
            <a:off x="22735245" y="20129624"/>
            <a:ext cx="47630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latin typeface="+mj-lt"/>
              </a:rPr>
              <a:t>MultiThreading</a:t>
            </a:r>
            <a:r>
              <a:rPr lang="ko-KR" altLang="en-US" sz="2800" dirty="0">
                <a:latin typeface="+mj-lt"/>
              </a:rPr>
              <a:t>을 사용하여</a:t>
            </a:r>
            <a:endParaRPr lang="en-US" altLang="ko-KR" sz="2800" dirty="0">
              <a:latin typeface="+mj-lt"/>
            </a:endParaRPr>
          </a:p>
          <a:p>
            <a:r>
              <a:rPr lang="en-US" altLang="ko-KR" sz="2800" dirty="0" err="1">
                <a:latin typeface="+mj-lt"/>
              </a:rPr>
              <a:t>Opencv</a:t>
            </a:r>
            <a:r>
              <a:rPr lang="ko-KR" altLang="en-US" sz="2800" dirty="0">
                <a:latin typeface="+mj-lt"/>
              </a:rPr>
              <a:t>의 작업 효율성을 </a:t>
            </a:r>
            <a:endParaRPr lang="en-US" altLang="ko-KR" sz="2800" dirty="0">
              <a:latin typeface="+mj-lt"/>
            </a:endParaRPr>
          </a:p>
          <a:p>
            <a:r>
              <a:rPr lang="ko-KR" altLang="en-US" sz="2800" dirty="0">
                <a:latin typeface="+mj-lt"/>
              </a:rPr>
              <a:t>높이고</a:t>
            </a:r>
            <a:r>
              <a:rPr lang="en-US" altLang="ko-KR" sz="2800" dirty="0">
                <a:latin typeface="+mj-lt"/>
              </a:rPr>
              <a:t>, </a:t>
            </a:r>
            <a:r>
              <a:rPr lang="ko-KR" altLang="en-US" sz="2800" dirty="0">
                <a:latin typeface="+mj-lt"/>
              </a:rPr>
              <a:t>속도를 증가시킴</a:t>
            </a:r>
            <a:r>
              <a:rPr lang="en-US" altLang="ko-KR" sz="2800" dirty="0">
                <a:latin typeface="+mj-lt"/>
              </a:rPr>
              <a:t>.</a:t>
            </a:r>
          </a:p>
          <a:p>
            <a:r>
              <a:rPr lang="ko-KR" altLang="en-US" sz="2800" dirty="0">
                <a:latin typeface="+mj-lt"/>
              </a:rPr>
              <a:t>분석 기록 저장</a:t>
            </a:r>
            <a:endParaRPr lang="en-US" altLang="ko-KR" sz="2800" dirty="0">
              <a:latin typeface="+mj-lt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FAE2137-D7BB-4A13-A8B8-B40531D6D98C}"/>
              </a:ext>
            </a:extLst>
          </p:cNvPr>
          <p:cNvSpPr txBox="1"/>
          <p:nvPr/>
        </p:nvSpPr>
        <p:spPr>
          <a:xfrm>
            <a:off x="17166867" y="26760510"/>
            <a:ext cx="40836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+mj-lt"/>
              </a:rPr>
              <a:t>Flask App</a:t>
            </a:r>
            <a:r>
              <a:rPr lang="ko-KR" altLang="en-US" sz="2800" dirty="0">
                <a:latin typeface="+mj-lt"/>
              </a:rPr>
              <a:t>을 이용하여</a:t>
            </a:r>
            <a:endParaRPr lang="en-US" altLang="ko-KR" sz="2800" dirty="0">
              <a:latin typeface="+mj-lt"/>
            </a:endParaRPr>
          </a:p>
          <a:p>
            <a:r>
              <a:rPr lang="ko-KR" altLang="en-US" sz="2800" dirty="0">
                <a:latin typeface="+mj-lt"/>
              </a:rPr>
              <a:t>웹서버를 구성하고</a:t>
            </a:r>
            <a:r>
              <a:rPr lang="en-US" altLang="ko-KR" sz="2800" dirty="0">
                <a:latin typeface="+mj-lt"/>
              </a:rPr>
              <a:t>, </a:t>
            </a:r>
          </a:p>
          <a:p>
            <a:r>
              <a:rPr lang="ko-KR" altLang="en-US" sz="2800" dirty="0">
                <a:latin typeface="+mj-lt"/>
              </a:rPr>
              <a:t>안정적인 처리 지원</a:t>
            </a:r>
            <a:endParaRPr lang="en-US" altLang="ko-KR" sz="2800" dirty="0">
              <a:latin typeface="+mj-lt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AFAA878-FF23-4425-A994-3ADF7A25B6B6}"/>
              </a:ext>
            </a:extLst>
          </p:cNvPr>
          <p:cNvSpPr txBox="1"/>
          <p:nvPr/>
        </p:nvSpPr>
        <p:spPr>
          <a:xfrm>
            <a:off x="23377741" y="26602234"/>
            <a:ext cx="38489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+mj-lt"/>
              </a:rPr>
              <a:t>Dotnet</a:t>
            </a:r>
            <a:r>
              <a:rPr lang="ko-KR" altLang="en-US" sz="2800" dirty="0">
                <a:latin typeface="+mj-lt"/>
              </a:rPr>
              <a:t>을 사용하여 </a:t>
            </a:r>
            <a:r>
              <a:rPr lang="en-US" altLang="ko-KR" sz="2800" dirty="0">
                <a:latin typeface="+mj-lt"/>
              </a:rPr>
              <a:t>Client</a:t>
            </a:r>
          </a:p>
          <a:p>
            <a:r>
              <a:rPr lang="ko-KR" altLang="en-US" sz="2800" dirty="0">
                <a:latin typeface="+mj-lt"/>
              </a:rPr>
              <a:t>화면을 구성하고</a:t>
            </a:r>
            <a:r>
              <a:rPr lang="en-US" altLang="ko-KR" sz="2800" dirty="0">
                <a:latin typeface="+mj-lt"/>
              </a:rPr>
              <a:t>, </a:t>
            </a:r>
            <a:r>
              <a:rPr lang="ko-KR" altLang="en-US" sz="2800" dirty="0">
                <a:latin typeface="+mj-lt"/>
              </a:rPr>
              <a:t>서버와의</a:t>
            </a:r>
            <a:endParaRPr lang="en-US" altLang="ko-KR" sz="2800" dirty="0">
              <a:latin typeface="+mj-lt"/>
            </a:endParaRPr>
          </a:p>
          <a:p>
            <a:r>
              <a:rPr lang="ko-KR" altLang="en-US" sz="2800" dirty="0">
                <a:latin typeface="+mj-lt"/>
              </a:rPr>
              <a:t>통신 지원</a:t>
            </a:r>
            <a:endParaRPr lang="en-US" altLang="ko-KR" sz="2800" dirty="0">
              <a:latin typeface="+mj-lt"/>
            </a:endParaRPr>
          </a:p>
        </p:txBody>
      </p:sp>
      <p:sp>
        <p:nvSpPr>
          <p:cNvPr id="202" name="평행 사변형 201">
            <a:extLst>
              <a:ext uri="{FF2B5EF4-FFF2-40B4-BE49-F238E27FC236}">
                <a16:creationId xmlns:a16="http://schemas.microsoft.com/office/drawing/2014/main" id="{D3C77C56-DF77-480A-8142-6B6E24239505}"/>
              </a:ext>
            </a:extLst>
          </p:cNvPr>
          <p:cNvSpPr/>
          <p:nvPr/>
        </p:nvSpPr>
        <p:spPr>
          <a:xfrm flipV="1">
            <a:off x="2697796" y="33248352"/>
            <a:ext cx="6271204" cy="1396545"/>
          </a:xfrm>
          <a:prstGeom prst="parallelogram">
            <a:avLst>
              <a:gd name="adj" fmla="val 98942"/>
            </a:avLst>
          </a:prstGeom>
          <a:solidFill>
            <a:srgbClr val="FF7C8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400"/>
          </a:p>
        </p:txBody>
      </p:sp>
      <p:sp>
        <p:nvSpPr>
          <p:cNvPr id="242" name="평행 사변형 241">
            <a:extLst>
              <a:ext uri="{FF2B5EF4-FFF2-40B4-BE49-F238E27FC236}">
                <a16:creationId xmlns:a16="http://schemas.microsoft.com/office/drawing/2014/main" id="{48A9ABC2-685E-4AD1-9E00-19E9203435B9}"/>
              </a:ext>
            </a:extLst>
          </p:cNvPr>
          <p:cNvSpPr/>
          <p:nvPr/>
        </p:nvSpPr>
        <p:spPr>
          <a:xfrm flipV="1">
            <a:off x="16132270" y="40092940"/>
            <a:ext cx="4828582" cy="1214864"/>
          </a:xfrm>
          <a:prstGeom prst="parallelogram">
            <a:avLst>
              <a:gd name="adj" fmla="val 98942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400"/>
          </a:p>
        </p:txBody>
      </p:sp>
      <p:sp>
        <p:nvSpPr>
          <p:cNvPr id="243" name="평행 사변형 242">
            <a:extLst>
              <a:ext uri="{FF2B5EF4-FFF2-40B4-BE49-F238E27FC236}">
                <a16:creationId xmlns:a16="http://schemas.microsoft.com/office/drawing/2014/main" id="{5641CCCC-4BC6-4309-8E8C-A1CE171F8FFE}"/>
              </a:ext>
            </a:extLst>
          </p:cNvPr>
          <p:cNvSpPr/>
          <p:nvPr/>
        </p:nvSpPr>
        <p:spPr>
          <a:xfrm>
            <a:off x="17161598" y="30088968"/>
            <a:ext cx="8655871" cy="11272514"/>
          </a:xfrm>
          <a:prstGeom prst="parallelogram">
            <a:avLst>
              <a:gd name="adj" fmla="val 40029"/>
            </a:avLst>
          </a:prstGeom>
          <a:solidFill>
            <a:schemeClr val="bg1"/>
          </a:solidFill>
          <a:ln>
            <a:noFill/>
          </a:ln>
          <a:effectLst>
            <a:outerShdw blurRad="355600" dist="520700" dir="10800000" sx="69000" sy="69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400"/>
          </a:p>
        </p:txBody>
      </p:sp>
      <p:sp>
        <p:nvSpPr>
          <p:cNvPr id="244" name="평행 사변형 243">
            <a:extLst>
              <a:ext uri="{FF2B5EF4-FFF2-40B4-BE49-F238E27FC236}">
                <a16:creationId xmlns:a16="http://schemas.microsoft.com/office/drawing/2014/main" id="{416ED7F9-A717-4A88-89BE-43E7A6118F66}"/>
              </a:ext>
            </a:extLst>
          </p:cNvPr>
          <p:cNvSpPr/>
          <p:nvPr/>
        </p:nvSpPr>
        <p:spPr>
          <a:xfrm>
            <a:off x="16132270" y="38192501"/>
            <a:ext cx="10107724" cy="1878166"/>
          </a:xfrm>
          <a:prstGeom prst="parallelogram">
            <a:avLst>
              <a:gd name="adj" fmla="val 23798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4000" b="1" dirty="0"/>
              <a:t>활용 및 향후 개선 방향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CC538BD-F8D9-4EC9-9C5B-E6930C3BE3E0}"/>
              </a:ext>
            </a:extLst>
          </p:cNvPr>
          <p:cNvSpPr txBox="1"/>
          <p:nvPr/>
        </p:nvSpPr>
        <p:spPr>
          <a:xfrm>
            <a:off x="20515505" y="31178586"/>
            <a:ext cx="7450305" cy="582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+mj-lt"/>
              </a:rPr>
              <a:t>사용자의 접근성을 위해 유튜브 웹사이트에 공유버튼을 파인더버튼으로 바꾼다</a:t>
            </a:r>
            <a:r>
              <a:rPr lang="en-US" altLang="ko-KR" sz="2800" dirty="0">
                <a:latin typeface="+mj-lt"/>
              </a:rPr>
              <a:t>.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+mj-lt"/>
              </a:rPr>
              <a:t>Object Detecting</a:t>
            </a:r>
            <a:r>
              <a:rPr lang="ko-KR" altLang="en-US" sz="2800" dirty="0">
                <a:latin typeface="+mj-lt"/>
              </a:rPr>
              <a:t>을 사용하여 썸네일 검색의 효율성을 높인다</a:t>
            </a:r>
            <a:r>
              <a:rPr lang="en-US" altLang="ko-KR" sz="2800" dirty="0">
                <a:latin typeface="+mj-lt"/>
              </a:rPr>
              <a:t>.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 err="1">
                <a:latin typeface="+mj-lt"/>
              </a:rPr>
              <a:t>Youtube</a:t>
            </a:r>
            <a:r>
              <a:rPr lang="en-US" altLang="ko-KR" sz="2800" dirty="0">
                <a:latin typeface="+mj-lt"/>
              </a:rPr>
              <a:t>-dl </a:t>
            </a:r>
            <a:r>
              <a:rPr lang="ko-KR" altLang="en-US" sz="2800" dirty="0">
                <a:latin typeface="+mj-lt"/>
              </a:rPr>
              <a:t>차단을 방지하여 </a:t>
            </a:r>
            <a:r>
              <a:rPr lang="ko-KR" altLang="en-US" sz="2800" dirty="0" err="1">
                <a:latin typeface="+mj-lt"/>
              </a:rPr>
              <a:t>여러곳에</a:t>
            </a:r>
            <a:r>
              <a:rPr lang="ko-KR" altLang="en-US" sz="2800" dirty="0">
                <a:latin typeface="+mj-lt"/>
              </a:rPr>
              <a:t> </a:t>
            </a:r>
            <a:r>
              <a:rPr lang="ko-KR" altLang="en-US" sz="2800" dirty="0" err="1">
                <a:latin typeface="+mj-lt"/>
              </a:rPr>
              <a:t>피어링을</a:t>
            </a:r>
            <a:r>
              <a:rPr lang="ko-KR" altLang="en-US" sz="2800" dirty="0">
                <a:latin typeface="+mj-lt"/>
              </a:rPr>
              <a:t> 한다</a:t>
            </a:r>
            <a:r>
              <a:rPr lang="en-US" altLang="ko-KR" sz="2800" dirty="0">
                <a:latin typeface="+mj-lt"/>
              </a:rPr>
              <a:t>.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+mj-lt"/>
              </a:rPr>
              <a:t>안드로이드 </a:t>
            </a:r>
            <a:r>
              <a:rPr lang="en-US" altLang="ko-KR" sz="2800" dirty="0" err="1">
                <a:latin typeface="+mj-lt"/>
              </a:rPr>
              <a:t>Youtube</a:t>
            </a:r>
            <a:r>
              <a:rPr lang="en-US" altLang="ko-KR" sz="2800" dirty="0">
                <a:latin typeface="+mj-lt"/>
              </a:rPr>
              <a:t> </a:t>
            </a:r>
            <a:r>
              <a:rPr lang="en-US" altLang="ko-KR" sz="2800" dirty="0" err="1">
                <a:latin typeface="+mj-lt"/>
              </a:rPr>
              <a:t>Vanced</a:t>
            </a:r>
            <a:r>
              <a:rPr lang="ko-KR" altLang="en-US" sz="2800" dirty="0">
                <a:latin typeface="+mj-lt"/>
              </a:rPr>
              <a:t>의 소스를 이용하여 파인더버튼을 추가시켜 배포한다</a:t>
            </a:r>
            <a:r>
              <a:rPr lang="en-US" altLang="ko-KR" sz="2800" dirty="0">
                <a:latin typeface="+mj-lt"/>
              </a:rPr>
              <a:t>.</a:t>
            </a:r>
          </a:p>
        </p:txBody>
      </p:sp>
      <p:sp>
        <p:nvSpPr>
          <p:cNvPr id="203" name="평행 사변형 202">
            <a:extLst>
              <a:ext uri="{FF2B5EF4-FFF2-40B4-BE49-F238E27FC236}">
                <a16:creationId xmlns:a16="http://schemas.microsoft.com/office/drawing/2014/main" id="{A401BF95-9C90-4346-8C17-EEC219697BF6}"/>
              </a:ext>
            </a:extLst>
          </p:cNvPr>
          <p:cNvSpPr/>
          <p:nvPr/>
        </p:nvSpPr>
        <p:spPr>
          <a:xfrm>
            <a:off x="1783097" y="29970687"/>
            <a:ext cx="9073452" cy="11365034"/>
          </a:xfrm>
          <a:prstGeom prst="parallelogram">
            <a:avLst>
              <a:gd name="adj" fmla="val 40029"/>
            </a:avLst>
          </a:prstGeom>
          <a:solidFill>
            <a:schemeClr val="bg1"/>
          </a:solidFill>
          <a:ln>
            <a:noFill/>
          </a:ln>
          <a:effectLst>
            <a:outerShdw blurRad="355600" dist="520700" dir="10800000" sx="69000" sy="69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400" dirty="0"/>
          </a:p>
        </p:txBody>
      </p:sp>
      <p:sp>
        <p:nvSpPr>
          <p:cNvPr id="204" name="평행 사변형 203">
            <a:extLst>
              <a:ext uri="{FF2B5EF4-FFF2-40B4-BE49-F238E27FC236}">
                <a16:creationId xmlns:a16="http://schemas.microsoft.com/office/drawing/2014/main" id="{BC1FB6AE-9DA0-47F3-B8A1-1BD700B6280D}"/>
              </a:ext>
            </a:extLst>
          </p:cNvPr>
          <p:cNvSpPr/>
          <p:nvPr/>
        </p:nvSpPr>
        <p:spPr>
          <a:xfrm>
            <a:off x="2697796" y="31768069"/>
            <a:ext cx="13127582" cy="1486753"/>
          </a:xfrm>
          <a:prstGeom prst="parallelogram">
            <a:avLst>
              <a:gd name="adj" fmla="val 23798"/>
            </a:avLst>
          </a:prstGeom>
          <a:solidFill>
            <a:srgbClr val="FF99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400" b="1" dirty="0"/>
              <a:t>주요 기능 </a:t>
            </a:r>
            <a:r>
              <a:rPr lang="en-US" altLang="ko-KR" sz="4400" b="1" dirty="0"/>
              <a:t>(Key </a:t>
            </a:r>
            <a:r>
              <a:rPr lang="en-US" altLang="ko-KR" sz="4400" b="1" dirty="0" err="1"/>
              <a:t>Fuction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 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C9F835DD-4C50-44C3-BE4A-1BFFFE7A81AA}"/>
              </a:ext>
            </a:extLst>
          </p:cNvPr>
          <p:cNvSpPr/>
          <p:nvPr/>
        </p:nvSpPr>
        <p:spPr>
          <a:xfrm>
            <a:off x="6827604" y="34390975"/>
            <a:ext cx="893654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ko-KR" sz="2800" b="1" dirty="0"/>
              <a:t>[ Client ]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800" dirty="0"/>
              <a:t>유튜브 주소를 복사 후 썸네일 파인더에 붙여넣기 후 </a:t>
            </a:r>
            <a:r>
              <a:rPr lang="en-US" altLang="ko-KR" sz="2800" dirty="0"/>
              <a:t>GO</a:t>
            </a:r>
            <a:r>
              <a:rPr lang="ko-KR" altLang="en-US" sz="2800" dirty="0"/>
              <a:t>를 누른다</a:t>
            </a:r>
            <a:endParaRPr lang="en-US" altLang="ko-KR" sz="28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800" dirty="0" err="1"/>
              <a:t>반환받은</a:t>
            </a:r>
            <a:r>
              <a:rPr lang="ko-KR" altLang="en-US" sz="2800" dirty="0"/>
              <a:t> 시간을 사용하여 자동적으로 유튜브의 해당 시간으로 이동한다</a:t>
            </a:r>
            <a:r>
              <a:rPr lang="en-US" altLang="ko-KR" sz="2800" dirty="0"/>
              <a:t>.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ko-KR" sz="2800" dirty="0"/>
              <a:t>[ Server ]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800" dirty="0"/>
              <a:t>받은 </a:t>
            </a:r>
            <a:r>
              <a:rPr lang="en-US" altLang="ko-KR" sz="2800" dirty="0" err="1"/>
              <a:t>Url</a:t>
            </a:r>
            <a:r>
              <a:rPr lang="ko-KR" altLang="en-US" sz="2800" dirty="0"/>
              <a:t>의 유효성 확인</a:t>
            </a:r>
            <a:endParaRPr lang="en-US" altLang="ko-KR" sz="28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ko-KR" sz="2800" dirty="0" err="1"/>
              <a:t>Youtube</a:t>
            </a:r>
            <a:r>
              <a:rPr lang="en-US" altLang="ko-KR" sz="2800" dirty="0"/>
              <a:t>-dl</a:t>
            </a:r>
            <a:r>
              <a:rPr lang="ko-KR" altLang="en-US" sz="2800" dirty="0"/>
              <a:t>을 사용하여 </a:t>
            </a:r>
            <a:r>
              <a:rPr lang="en-US" altLang="ko-KR" sz="2800" dirty="0" err="1"/>
              <a:t>url</a:t>
            </a:r>
            <a:r>
              <a:rPr lang="ko-KR" altLang="en-US" sz="2800" dirty="0"/>
              <a:t>의 썸네일 및 동영상 다운로드</a:t>
            </a:r>
            <a:endParaRPr lang="en-US" altLang="ko-KR" sz="28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ko-KR" sz="2800" dirty="0"/>
              <a:t>OpenCV</a:t>
            </a:r>
            <a:r>
              <a:rPr lang="ko-KR" altLang="en-US" sz="2800" dirty="0"/>
              <a:t>의 </a:t>
            </a:r>
            <a:r>
              <a:rPr lang="en-US" altLang="ko-KR" sz="2800" dirty="0"/>
              <a:t>SIFT</a:t>
            </a:r>
            <a:r>
              <a:rPr lang="ko-KR" altLang="en-US" sz="2800" dirty="0"/>
              <a:t>를 사용하여 이미지 비교도 확인</a:t>
            </a:r>
            <a:endParaRPr lang="en-US" altLang="ko-KR" sz="28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ko-KR" sz="2800" dirty="0" err="1"/>
              <a:t>Sift.detectAndCompute</a:t>
            </a:r>
            <a:r>
              <a:rPr lang="ko-KR" altLang="en-US" sz="2800" dirty="0"/>
              <a:t>와 </a:t>
            </a:r>
            <a:r>
              <a:rPr lang="en-US" altLang="ko-KR" sz="2800" dirty="0" err="1"/>
              <a:t>FlannBasedMacher</a:t>
            </a:r>
            <a:r>
              <a:rPr lang="ko-KR" altLang="en-US" sz="2800" dirty="0"/>
              <a:t>를 이용</a:t>
            </a:r>
            <a:r>
              <a:rPr lang="en-US" altLang="ko-KR" sz="2800" dirty="0"/>
              <a:t>,</a:t>
            </a:r>
            <a:r>
              <a:rPr lang="ko-KR" altLang="en-US" sz="2800" dirty="0"/>
              <a:t> 이미지의 </a:t>
            </a:r>
            <a:r>
              <a:rPr lang="ko-KR" altLang="en-US" sz="2800" dirty="0" err="1"/>
              <a:t>특징점</a:t>
            </a:r>
            <a:r>
              <a:rPr lang="ko-KR" altLang="en-US" sz="2800" dirty="0"/>
              <a:t> 확인</a:t>
            </a:r>
            <a:endParaRPr lang="en-US" altLang="ko-KR" sz="28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ko-KR" altLang="en-US" sz="2800" dirty="0"/>
              <a:t>특징점의 개수와 프레임 저장 및 반환</a:t>
            </a:r>
            <a:endParaRPr lang="en-US" altLang="ko-KR" sz="2800" dirty="0"/>
          </a:p>
        </p:txBody>
      </p: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7359DB55-1FE4-4974-A9C0-BDC20D6B49A7}"/>
              </a:ext>
            </a:extLst>
          </p:cNvPr>
          <p:cNvGrpSpPr/>
          <p:nvPr/>
        </p:nvGrpSpPr>
        <p:grpSpPr>
          <a:xfrm>
            <a:off x="4227238" y="34702260"/>
            <a:ext cx="2240304" cy="3100224"/>
            <a:chOff x="29603032" y="29871392"/>
            <a:chExt cx="2240304" cy="3100224"/>
          </a:xfrm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FFD26090-1F5C-42B6-808B-2FA66FC1A063}"/>
                </a:ext>
              </a:extLst>
            </p:cNvPr>
            <p:cNvSpPr/>
            <p:nvPr/>
          </p:nvSpPr>
          <p:spPr>
            <a:xfrm>
              <a:off x="29611090" y="31951421"/>
              <a:ext cx="2232246" cy="10201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/>
                <a:t>Server Program</a:t>
              </a:r>
              <a:endParaRPr lang="ko-KR" altLang="en-US" sz="3200" dirty="0"/>
            </a:p>
          </p:txBody>
        </p:sp>
        <p:sp>
          <p:nvSpPr>
            <p:cNvPr id="220" name="화살표: 아래쪽 219">
              <a:extLst>
                <a:ext uri="{FF2B5EF4-FFF2-40B4-BE49-F238E27FC236}">
                  <a16:creationId xmlns:a16="http://schemas.microsoft.com/office/drawing/2014/main" id="{EBF44057-F309-4835-932F-F5B332B09D6A}"/>
                </a:ext>
              </a:extLst>
            </p:cNvPr>
            <p:cNvSpPr/>
            <p:nvPr/>
          </p:nvSpPr>
          <p:spPr>
            <a:xfrm>
              <a:off x="29838300" y="31138922"/>
              <a:ext cx="493912" cy="666241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화살표: 아래쪽 220">
              <a:extLst>
                <a:ext uri="{FF2B5EF4-FFF2-40B4-BE49-F238E27FC236}">
                  <a16:creationId xmlns:a16="http://schemas.microsoft.com/office/drawing/2014/main" id="{BBC9E31D-94F8-4DCE-9015-5C6FE0D33B81}"/>
                </a:ext>
              </a:extLst>
            </p:cNvPr>
            <p:cNvSpPr/>
            <p:nvPr/>
          </p:nvSpPr>
          <p:spPr>
            <a:xfrm rot="10800000">
              <a:off x="30995786" y="31152603"/>
              <a:ext cx="493912" cy="666241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3F2E624F-5EA2-4D07-9555-5724FA16E564}"/>
                </a:ext>
              </a:extLst>
            </p:cNvPr>
            <p:cNvSpPr/>
            <p:nvPr/>
          </p:nvSpPr>
          <p:spPr>
            <a:xfrm>
              <a:off x="29603032" y="29871392"/>
              <a:ext cx="2232246" cy="9612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/>
                <a:t>Client Program</a:t>
              </a:r>
              <a:endParaRPr lang="ko-KR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483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2864</TotalTime>
  <Words>313</Words>
  <Application>Microsoft Office PowerPoint</Application>
  <PresentationFormat>사용자 지정</PresentationFormat>
  <Paragraphs>47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HY엽서M</vt:lpstr>
      <vt:lpstr>굴림</vt:lpstr>
      <vt:lpstr>맑은 고딕</vt:lpstr>
      <vt:lpstr>문체부 제목 돋음체</vt:lpstr>
      <vt:lpstr>산돌고딕 M</vt:lpstr>
      <vt:lpstr>Arial</vt:lpstr>
      <vt:lpstr>Wingdings</vt:lpstr>
      <vt:lpstr>Office 테마</vt:lpstr>
      <vt:lpstr>PowerPoint 프레젠테이션</vt:lpstr>
    </vt:vector>
  </TitlesOfParts>
  <Company>KAIST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최한실</dc:creator>
  <cp:lastModifiedBy>신도윤</cp:lastModifiedBy>
  <cp:revision>149</cp:revision>
  <cp:lastPrinted>2020-11-01T03:05:50Z</cp:lastPrinted>
  <dcterms:created xsi:type="dcterms:W3CDTF">2003-10-29T02:34:34Z</dcterms:created>
  <dcterms:modified xsi:type="dcterms:W3CDTF">2020-11-01T13:26:54Z</dcterms:modified>
</cp:coreProperties>
</file>